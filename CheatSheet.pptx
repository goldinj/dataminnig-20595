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E25F1-DCF6-4107-A36A-0DCA9CCBEF41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F5119-C317-40D5-B39C-70673CC96A0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0354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F5119-C317-40D5-B39C-70673CC96A03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4007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FB63-FB6A-7E2B-0828-FEF24C00B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27AFD-55C5-E3B4-75AC-F1B36A37E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1C29-F0D2-458B-8E7A-0C19ECAF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76369-9CA1-0079-DA38-F223746C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EEBA7-19B3-7877-4A4B-9D0F648C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9309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B1CA-9676-CED4-8DC7-3058EBE9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D757B-D9AF-8AB1-51B8-F82C34133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4EFB9-1183-DD93-6DDE-A34611F5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B525B-8D2B-5DF3-17B5-6BF66DDA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5BBB3-4E75-24F6-72AA-50D729BA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418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F39A6-A20D-2C30-7D7A-1053F076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1FFAE-B8E8-50BE-22F0-84DD77D71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9AD69-F047-6A54-3A00-F1413122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FBE9E-447A-5FD5-2D77-A44FA24F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A19F5-1B2B-29E1-B118-9EAED685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860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E343-0E02-7094-DA7A-25A4239B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2C0A-3C81-6E30-3D36-188352595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4C42F-DBBD-0AB2-843D-D74358DC7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19FB0-CCC4-C0BB-641C-DE5E999D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50B1E-FCC5-CEEB-6997-F8620310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93B0-68F2-6DC9-2247-1FCBD417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521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404E-49D8-5FAA-C8E6-B2DEA905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43A7F-BF2B-5000-41D6-D80E1067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CFC89-0A98-6FDF-F22A-A5A76CBEA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01FB2-AA24-E3AD-FD62-95CB128A4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7E0D0-0C5C-51F8-2890-C5CA2D039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F5586-653D-2F33-9FBB-3E5D1997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2F82E-AA3C-8882-D136-1E667DFE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0588F-728E-7834-43E9-5D036C60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133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1807-50FD-FB49-696F-89F0B5EB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F031F2-52E6-6823-2AAD-04226D75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0982A-3033-9092-F64B-5E57FD3D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2E90E-6204-2E39-BB36-0F85045C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641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5CA9C-9969-B2DF-C95A-584AAA04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CB383-6352-9A95-B2CE-9D726C13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9FC18-6F98-87E6-2EE2-82235CCB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544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70B6-D327-8A68-B44D-B8AD8D152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9449D-39CA-421A-8418-6B075E504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F8F7D-BE04-4EFA-3D6B-6670C768E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B7E3E-A209-DDFD-D697-BE335344D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104E5-8E8A-CBB9-922F-2D6AF4FF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E840F-8A72-8679-B403-4F8987B6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249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2EDF-7B44-4241-2E0D-2B474AC3C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06C898-121D-0954-6643-368013BAE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D71FE-C923-B4A5-2F9F-452384527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4549B-F961-2739-44FD-EF988449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C9744-76EE-0A6C-797D-02B0E167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D38CD-8CFD-40E7-F48E-DD33D392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6272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CB2C-2F0E-BB3D-E8C8-08BB3904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A820E-08CB-72D0-BC9C-739C444FB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B7FA5-53CA-A938-91C5-3804C3237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CA980-E457-75C6-9A93-836D6643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7262-1D8A-A635-8036-883AE6A1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776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765ED-0985-20F9-FD15-BF17AD2B1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54DBA-FA13-28B8-EBE7-63BE880C3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56016-C02A-C599-B15A-0CC5B234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C7A9-DBB8-7EAA-E2E9-9A21E5F2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F4D63-1888-C54F-E83A-AC6C24FC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861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ED288-2C4A-B22D-8391-641D723D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B6FED-0281-C684-65EB-37DD6CA4D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03869-FC20-D7E2-A36B-FBF02A124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BDF49-A4BD-4B11-8DEC-27D5B8B1D83F}" type="datetimeFigureOut">
              <a:rPr lang="LID4096" smtClean="0"/>
              <a:t>09/14/2025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3C17C-9F64-4B66-3875-21711063F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5FB00-7050-E8B1-558A-7DD964F3F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A6511-8FE7-4760-B970-96DC546F5B5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902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geeksforgeeks.org/machine-learning/apriori-algorith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geeksforgeeks.org/machine-learning/frequent-pattern-growth-algorith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F3E4-DF7C-CEFB-1D16-A76D6AA6C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49"/>
            <a:ext cx="9144000" cy="995363"/>
          </a:xfrm>
        </p:spPr>
        <p:txBody>
          <a:bodyPr>
            <a:normAutofit/>
          </a:bodyPr>
          <a:lstStyle/>
          <a:p>
            <a:r>
              <a:rPr lang="en-US" sz="4800" dirty="0"/>
              <a:t>Decision Trees (ID3 Algorithm)</a:t>
            </a:r>
            <a:endParaRPr lang="LID4096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C1BF2-0E0E-72F8-6073-11F58F6D0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287463"/>
            <a:ext cx="9144000" cy="427037"/>
          </a:xfrm>
        </p:spPr>
        <p:txBody>
          <a:bodyPr/>
          <a:lstStyle/>
          <a:p>
            <a:r>
              <a:rPr lang="en-US" dirty="0"/>
              <a:t>Dataset</a:t>
            </a:r>
            <a:endParaRPr lang="LID4096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79747C-1E23-675A-DF0B-188D67894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376902"/>
              </p:ext>
            </p:extLst>
          </p:nvPr>
        </p:nvGraphicFramePr>
        <p:xfrm>
          <a:off x="360878" y="1835151"/>
          <a:ext cx="5862224" cy="4257760"/>
        </p:xfrm>
        <a:graphic>
          <a:graphicData uri="http://schemas.openxmlformats.org/drawingml/2006/table">
            <a:tbl>
              <a:tblPr/>
              <a:tblGrid>
                <a:gridCol w="498658">
                  <a:extLst>
                    <a:ext uri="{9D8B030D-6E8A-4147-A177-3AD203B41FA5}">
                      <a16:colId xmlns:a16="http://schemas.microsoft.com/office/drawing/2014/main" val="3324819864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3649869996"/>
                    </a:ext>
                  </a:extLst>
                </a:gridCol>
                <a:gridCol w="1308900">
                  <a:extLst>
                    <a:ext uri="{9D8B030D-6E8A-4147-A177-3AD203B41FA5}">
                      <a16:colId xmlns:a16="http://schemas.microsoft.com/office/drawing/2014/main" val="3364268206"/>
                    </a:ext>
                  </a:extLst>
                </a:gridCol>
                <a:gridCol w="1010323">
                  <a:extLst>
                    <a:ext uri="{9D8B030D-6E8A-4147-A177-3AD203B41FA5}">
                      <a16:colId xmlns:a16="http://schemas.microsoft.com/office/drawing/2014/main" val="2889346903"/>
                    </a:ext>
                  </a:extLst>
                </a:gridCol>
                <a:gridCol w="777341">
                  <a:extLst>
                    <a:ext uri="{9D8B030D-6E8A-4147-A177-3AD203B41FA5}">
                      <a16:colId xmlns:a16="http://schemas.microsoft.com/office/drawing/2014/main" val="2732199196"/>
                    </a:ext>
                  </a:extLst>
                </a:gridCol>
                <a:gridCol w="1151434">
                  <a:extLst>
                    <a:ext uri="{9D8B030D-6E8A-4147-A177-3AD203B41FA5}">
                      <a16:colId xmlns:a16="http://schemas.microsoft.com/office/drawing/2014/main" val="718588977"/>
                    </a:ext>
                  </a:extLst>
                </a:gridCol>
              </a:tblGrid>
              <a:tr h="261200">
                <a:tc>
                  <a:txBody>
                    <a:bodyPr/>
                    <a:lstStyle/>
                    <a:p>
                      <a:r>
                        <a:rPr lang="en-US" sz="1600" dirty="0"/>
                        <a:t>ID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Outlook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Temperature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Humidity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Wind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PlayTennis</a:t>
                      </a:r>
                      <a:endParaRPr lang="en-US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384221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Sunny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843465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2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Sunny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Strong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060450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 dirty="0"/>
                        <a:t>3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Overcast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649039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 dirty="0"/>
                        <a:t>4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Rain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Mild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295790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5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Rain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Cool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Normal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44769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6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Rain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Cool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Normal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Strong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19141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7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Overcast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Cool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Normal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Strong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99904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8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Sunny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Mild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396769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9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Sunny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Cool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Normal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85840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10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Rain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Mild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Normal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31369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11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Sunny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Mild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Normal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Strong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015849"/>
                  </a:ext>
                </a:extLst>
              </a:tr>
              <a:tr h="261200">
                <a:tc>
                  <a:txBody>
                    <a:bodyPr/>
                    <a:lstStyle/>
                    <a:p>
                      <a:r>
                        <a:rPr lang="en-IL" sz="1600"/>
                        <a:t>12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Overcast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Mild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Strong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519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07D72-2A63-2104-2294-488211CC04D4}"/>
                  </a:ext>
                </a:extLst>
              </p:cNvPr>
              <p:cNvSpPr txBox="1"/>
              <p:nvPr/>
            </p:nvSpPr>
            <p:spPr>
              <a:xfrm>
                <a:off x="7142988" y="1511490"/>
                <a:ext cx="4597908" cy="1726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– feature in set of features (X)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p(x) – probability of feature x in X</a:t>
                </a:r>
                <a:endParaRPr lang="LID4096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07D72-2A63-2104-2294-488211CC0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988" y="1511490"/>
                <a:ext cx="4597908" cy="1726563"/>
              </a:xfrm>
              <a:prstGeom prst="rect">
                <a:avLst/>
              </a:prstGeom>
              <a:blipFill>
                <a:blip r:embed="rId2"/>
                <a:stretch>
                  <a:fillRect l="-1194" b="-4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B17D8-CA24-2F30-7574-A8570457618F}"/>
                  </a:ext>
                </a:extLst>
              </p:cNvPr>
              <p:cNvSpPr txBox="1"/>
              <p:nvPr/>
            </p:nvSpPr>
            <p:spPr>
              <a:xfrm>
                <a:off x="6492240" y="3515052"/>
                <a:ext cx="5248656" cy="2238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Algorithm: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Calculate the entropy of the target variable (Play tennis)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LID4096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LID4096" altLang="LID4096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PlayTennis = Yes → 9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LID4096" dirty="0">
                    <a:latin typeface="Arial" panose="020B0604020202020204" pitchFamily="34" charset="0"/>
                  </a:rPr>
                  <a:t> </a:t>
                </a:r>
                <a:r>
                  <a:rPr lang="LID4096" altLang="LID4096" dirty="0">
                    <a:latin typeface="Arial" panose="020B0604020202020204" pitchFamily="34" charset="0"/>
                  </a:rPr>
                  <a:t>PlayTennis = No → 3</a:t>
                </a:r>
              </a:p>
              <a:p>
                <a:pPr lvl="1"/>
                <a:endParaRPr lang="en-US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14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0.918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B17D8-CA24-2F30-7574-A8570457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3515052"/>
                <a:ext cx="5248656" cy="2238370"/>
              </a:xfrm>
              <a:prstGeom prst="rect">
                <a:avLst/>
              </a:prstGeom>
              <a:blipFill>
                <a:blip r:embed="rId3"/>
                <a:stretch>
                  <a:fillRect l="-1045" t="-1362" r="-151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042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685EFA-47A5-35F4-A060-35BE4E5E7CC5}"/>
                  </a:ext>
                </a:extLst>
              </p:cNvPr>
              <p:cNvSpPr txBox="1"/>
              <p:nvPr/>
            </p:nvSpPr>
            <p:spPr>
              <a:xfrm>
                <a:off x="139446" y="165253"/>
                <a:ext cx="8839962" cy="2911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2. Calculate Information Gain for Each Feature</a:t>
                </a:r>
              </a:p>
              <a:p>
                <a:pPr>
                  <a:buNone/>
                </a:pPr>
                <a:r>
                  <a:rPr lang="en-US" b="1" dirty="0"/>
                  <a:t>Feature: Outlook</a:t>
                </a:r>
              </a:p>
              <a:p>
                <a:pPr>
                  <a:buNone/>
                </a:pPr>
                <a:r>
                  <a:rPr lang="en-US" dirty="0"/>
                  <a:t>Split: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 Sunny: 5 examples → 2 Yes, 3 No →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𝑆𝑢𝑛𝑛𝑦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0.9709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 Overcast: 3 examples → 3 Yes →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𝑂𝑣𝑒𝑟𝑐𝑎𝑠𝑡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 Rain: 4 examples → 3 Yes, 1 No →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𝑅𝑎𝑖𝑛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0.811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b="1" dirty="0"/>
                  <a:t>Conditional Entropy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685EFA-47A5-35F4-A060-35BE4E5E7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46" y="165253"/>
                <a:ext cx="8839962" cy="2911053"/>
              </a:xfrm>
              <a:prstGeom prst="rect">
                <a:avLst/>
              </a:prstGeom>
              <a:blipFill>
                <a:blip r:embed="rId2"/>
                <a:stretch>
                  <a:fillRect l="-621" t="-837" b="-33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EAF2B39-6A86-1770-AFFB-721C9207C4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93211"/>
                  </p:ext>
                </p:extLst>
              </p:nvPr>
            </p:nvGraphicFramePr>
            <p:xfrm>
              <a:off x="212344" y="2831930"/>
              <a:ext cx="3566732" cy="16752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4609">
                      <a:extLst>
                        <a:ext uri="{9D8B030D-6E8A-4147-A177-3AD203B41FA5}">
                          <a16:colId xmlns:a16="http://schemas.microsoft.com/office/drawing/2014/main" val="3132465400"/>
                        </a:ext>
                      </a:extLst>
                    </a:gridCol>
                    <a:gridCol w="1729359">
                      <a:extLst>
                        <a:ext uri="{9D8B030D-6E8A-4147-A177-3AD203B41FA5}">
                          <a16:colId xmlns:a16="http://schemas.microsoft.com/office/drawing/2014/main" val="3705388020"/>
                        </a:ext>
                      </a:extLst>
                    </a:gridCol>
                    <a:gridCol w="1032764">
                      <a:extLst>
                        <a:ext uri="{9D8B030D-6E8A-4147-A177-3AD203B41FA5}">
                          <a16:colId xmlns:a16="http://schemas.microsoft.com/office/drawing/2014/main" val="3267804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2388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Sunny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𝑆𝑢𝑛𝑛𝑦</m:t>
                                    </m:r>
                                  </m:e>
                                </m: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0.9709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67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Overcast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𝑂𝑣𝑒𝑟𝑐𝑎𝑠𝑡</m:t>
                                    </m:r>
                                  </m:e>
                                </m: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4114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Rain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𝑅𝑎𝑖𝑛</m:t>
                                    </m:r>
                                  </m:e>
                                </m: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0.811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56434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EAF2B39-6A86-1770-AFFB-721C9207C4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993211"/>
                  </p:ext>
                </p:extLst>
              </p:nvPr>
            </p:nvGraphicFramePr>
            <p:xfrm>
              <a:off x="212344" y="2831930"/>
              <a:ext cx="3566732" cy="16752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4609">
                      <a:extLst>
                        <a:ext uri="{9D8B030D-6E8A-4147-A177-3AD203B41FA5}">
                          <a16:colId xmlns:a16="http://schemas.microsoft.com/office/drawing/2014/main" val="3132465400"/>
                        </a:ext>
                      </a:extLst>
                    </a:gridCol>
                    <a:gridCol w="1729359">
                      <a:extLst>
                        <a:ext uri="{9D8B030D-6E8A-4147-A177-3AD203B41FA5}">
                          <a16:colId xmlns:a16="http://schemas.microsoft.com/office/drawing/2014/main" val="3705388020"/>
                        </a:ext>
                      </a:extLst>
                    </a:gridCol>
                    <a:gridCol w="1032764">
                      <a:extLst>
                        <a:ext uri="{9D8B030D-6E8A-4147-A177-3AD203B41FA5}">
                          <a16:colId xmlns:a16="http://schemas.microsoft.com/office/drawing/2014/main" val="3267804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58" t="-1639" r="-347727" b="-35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831" t="-1639" r="-61620" b="-35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5294" t="-1639" r="-2941" b="-355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8837"/>
                      </a:ext>
                    </a:extLst>
                  </a:tr>
                  <a:tr h="437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Sunny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831" t="-86111" r="-61620" b="-2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5294" t="-86111" r="-2941" b="-20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6716579"/>
                      </a:ext>
                    </a:extLst>
                  </a:tr>
                  <a:tr h="4337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Overcast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831" t="-186111" r="-61620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4114216"/>
                      </a:ext>
                    </a:extLst>
                  </a:tr>
                  <a:tr h="433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Rain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831" t="-290141" r="-61620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0.811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56434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1D3F5F-51B5-D85C-F02E-0EE54DCF4B71}"/>
                  </a:ext>
                </a:extLst>
              </p:cNvPr>
              <p:cNvSpPr txBox="1"/>
              <p:nvPr/>
            </p:nvSpPr>
            <p:spPr>
              <a:xfrm>
                <a:off x="3959352" y="2831931"/>
                <a:ext cx="7443216" cy="2001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Cambria Math" panose="02040503050406030204" pitchFamily="18" charset="0"/>
                  </a:rPr>
                  <a:t>S =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PlayTennis</a:t>
                </a:r>
                <a:r>
                  <a:rPr lang="en-US" i="1" dirty="0">
                    <a:latin typeface="Cambria Math" panose="02040503050406030204" pitchFamily="18" charset="0"/>
                  </a:rPr>
                  <a:t>; V = Outlook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∗0.9709+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∗0+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∗0.811=0.675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𝐼𝑛𝑓𝑜𝐺𝑎𝑖𝑛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=0.918 −0.675=0.243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* We will seek for the </a:t>
                </a:r>
                <a:r>
                  <a:rPr lang="en-US" b="1" dirty="0"/>
                  <a:t>largest</a:t>
                </a:r>
                <a:r>
                  <a:rPr lang="en-US" dirty="0"/>
                  <a:t> value of Information gain for split</a:t>
                </a:r>
                <a:endParaRPr lang="LID4096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1D3F5F-51B5-D85C-F02E-0EE54DCF4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352" y="2831931"/>
                <a:ext cx="7443216" cy="2001510"/>
              </a:xfrm>
              <a:prstGeom prst="rect">
                <a:avLst/>
              </a:prstGeom>
              <a:blipFill>
                <a:blip r:embed="rId4"/>
                <a:stretch>
                  <a:fillRect l="-737" t="-2134" b="-426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830F479-9BE3-672C-0F62-AEAA0C66927F}"/>
              </a:ext>
            </a:extLst>
          </p:cNvPr>
          <p:cNvSpPr/>
          <p:nvPr/>
        </p:nvSpPr>
        <p:spPr>
          <a:xfrm>
            <a:off x="4032504" y="3922776"/>
            <a:ext cx="5806440" cy="32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2EE4CE8-EA01-B503-7AD2-7B144B88FC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69714"/>
                  </p:ext>
                </p:extLst>
              </p:nvPr>
            </p:nvGraphicFramePr>
            <p:xfrm>
              <a:off x="212344" y="4710657"/>
              <a:ext cx="267423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4880">
                      <a:extLst>
                        <a:ext uri="{9D8B030D-6E8A-4147-A177-3AD203B41FA5}">
                          <a16:colId xmlns:a16="http://schemas.microsoft.com/office/drawing/2014/main" val="3132465400"/>
                        </a:ext>
                      </a:extLst>
                    </a:gridCol>
                    <a:gridCol w="1729359">
                      <a:extLst>
                        <a:ext uri="{9D8B030D-6E8A-4147-A177-3AD203B41FA5}">
                          <a16:colId xmlns:a16="http://schemas.microsoft.com/office/drawing/2014/main" val="37053880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𝑰𝒏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𝒇𝒐𝑮𝒂𝒊𝒏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2388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Outlook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0.243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67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Temp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0.029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4114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err="1"/>
                            <a:t>Hummidity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0.151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2109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Wind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0.225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56434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2EE4CE8-EA01-B503-7AD2-7B144B88FC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69714"/>
                  </p:ext>
                </p:extLst>
              </p:nvPr>
            </p:nvGraphicFramePr>
            <p:xfrm>
              <a:off x="212344" y="4710657"/>
              <a:ext cx="2674239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4880">
                      <a:extLst>
                        <a:ext uri="{9D8B030D-6E8A-4147-A177-3AD203B41FA5}">
                          <a16:colId xmlns:a16="http://schemas.microsoft.com/office/drawing/2014/main" val="3132465400"/>
                        </a:ext>
                      </a:extLst>
                    </a:gridCol>
                    <a:gridCol w="1729359">
                      <a:extLst>
                        <a:ext uri="{9D8B030D-6E8A-4147-A177-3AD203B41FA5}">
                          <a16:colId xmlns:a16="http://schemas.microsoft.com/office/drawing/2014/main" val="37053880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45" t="-1639" r="-186452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4737" t="-1639" r="-1404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2388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Outlook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0.243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67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Temp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0.029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4114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err="1"/>
                            <a:t>Hummidity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0.151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21091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Wind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0.225</a:t>
                          </a:r>
                          <a:endParaRPr lang="LID4096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56434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C41C130-0AF8-2375-0259-F627B241433C}"/>
              </a:ext>
            </a:extLst>
          </p:cNvPr>
          <p:cNvSpPr txBox="1"/>
          <p:nvPr/>
        </p:nvSpPr>
        <p:spPr>
          <a:xfrm>
            <a:off x="2983548" y="4891993"/>
            <a:ext cx="5400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Best Split = Outlook (</a:t>
            </a:r>
            <a:r>
              <a:rPr lang="en-US" b="1" dirty="0" err="1"/>
              <a:t>InfoGain</a:t>
            </a:r>
            <a:r>
              <a:rPr lang="en-US" b="1" dirty="0"/>
              <a:t> = 0.225)</a:t>
            </a:r>
          </a:p>
          <a:p>
            <a:r>
              <a:rPr lang="en-US" dirty="0"/>
              <a:t>We split on </a:t>
            </a:r>
            <a:r>
              <a:rPr lang="en-US" b="1" dirty="0"/>
              <a:t>Outlook</a:t>
            </a:r>
            <a:r>
              <a:rPr lang="en-US" dirty="0"/>
              <a:t>, then repeat recursively on each branch.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93C30B-57C4-E2C8-FB9A-B41F9AB3E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997" y="5476328"/>
            <a:ext cx="3441453" cy="121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3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4DA2D-4157-1A5C-1C04-D479672C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Naïve Bayes and Bayesian network</a:t>
            </a:r>
            <a:br>
              <a:rPr lang="en-US" dirty="0"/>
            </a:b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CC8C36-B315-C58F-4623-510D5619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696" y="1184593"/>
            <a:ext cx="4684776" cy="5060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Bayes' Rule (Bayes’ Theorem)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3CDF03-3732-8B82-225F-7D53938D24CA}"/>
                  </a:ext>
                </a:extLst>
              </p:cNvPr>
              <p:cNvSpPr txBox="1"/>
              <p:nvPr/>
            </p:nvSpPr>
            <p:spPr>
              <a:xfrm>
                <a:off x="733806" y="1833479"/>
                <a:ext cx="10619994" cy="4579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Conditional Probability: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Bayes' Rule </a:t>
                </a:r>
                <a:r>
                  <a:rPr lang="en-US" dirty="0"/>
                  <a:t>is a way to update our beliefs based on new evidence. It's a formula that describes the probability of a hypothesis </a:t>
                </a:r>
                <a:r>
                  <a:rPr lang="en-US" b="1" dirty="0"/>
                  <a:t>H</a:t>
                </a:r>
                <a:r>
                  <a:rPr lang="en-US" dirty="0"/>
                  <a:t> given some observed evidence </a:t>
                </a:r>
                <a:r>
                  <a:rPr lang="en-US" b="1" dirty="0"/>
                  <a:t>E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posterior probability</a:t>
                </a:r>
                <a:r>
                  <a:rPr lang="en-US" dirty="0"/>
                  <a:t> – the probability of the hypothesis given the evidence.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likelihood</a:t>
                </a:r>
                <a:r>
                  <a:rPr lang="en-US" dirty="0"/>
                  <a:t> – how probable the evidence is given the hypothesis.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</a:t>
                </a:r>
                <a:r>
                  <a:rPr lang="en-US" b="1" dirty="0"/>
                  <a:t>prior</a:t>
                </a:r>
                <a:r>
                  <a:rPr lang="en-US" dirty="0"/>
                  <a:t> – our belief about the hypothesis before seeing the evidence.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evidence</a:t>
                </a:r>
                <a:r>
                  <a:rPr lang="en-US" dirty="0"/>
                  <a:t> – the total probability of the evidence.</a:t>
                </a:r>
              </a:p>
              <a:p>
                <a:endParaRPr lang="en-US" b="0" dirty="0"/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3CDF03-3732-8B82-225F-7D53938D2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06" y="1833479"/>
                <a:ext cx="10619994" cy="4579780"/>
              </a:xfrm>
              <a:prstGeom prst="rect">
                <a:avLst/>
              </a:prstGeom>
              <a:blipFill>
                <a:blip r:embed="rId2"/>
                <a:stretch>
                  <a:fillRect l="-459" t="-6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49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06034F-8F12-B42A-518F-BBBD3C035360}"/>
              </a:ext>
            </a:extLst>
          </p:cNvPr>
          <p:cNvSpPr txBox="1">
            <a:spLocks/>
          </p:cNvSpPr>
          <p:nvPr/>
        </p:nvSpPr>
        <p:spPr>
          <a:xfrm>
            <a:off x="450342" y="188849"/>
            <a:ext cx="1703832" cy="496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9C7A9B-F246-BDF9-8F08-B72776596622}"/>
                  </a:ext>
                </a:extLst>
              </p:cNvPr>
              <p:cNvSpPr txBox="1"/>
              <p:nvPr/>
            </p:nvSpPr>
            <p:spPr>
              <a:xfrm>
                <a:off x="450342" y="749808"/>
                <a:ext cx="7093458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dirty="0"/>
                  <a:t>We are analyzing the probability of </a:t>
                </a:r>
                <a:r>
                  <a:rPr lang="en-US" sz="1600" b="1" dirty="0"/>
                  <a:t>heart disease (H)</a:t>
                </a:r>
                <a:r>
                  <a:rPr lang="en-US" sz="1600" dirty="0"/>
                  <a:t> as influenced by: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 Smoking (S)</a:t>
                </a:r>
                <a:endParaRPr lang="en-US" sz="16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 Diet (D)</a:t>
                </a:r>
                <a:endParaRPr lang="en-US" sz="1600" dirty="0"/>
              </a:p>
              <a:p>
                <a:pPr>
                  <a:buNone/>
                </a:pPr>
                <a:r>
                  <a:rPr lang="en-US" sz="1600" dirty="0"/>
                  <a:t>Then, the presence of </a:t>
                </a:r>
                <a:r>
                  <a:rPr lang="en-US" sz="1600" b="1" dirty="0"/>
                  <a:t>heart disease (H)</a:t>
                </a:r>
                <a:r>
                  <a:rPr lang="en-US" sz="1600" dirty="0"/>
                  <a:t> influences: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 Blood pressure (B)</a:t>
                </a:r>
                <a:endParaRPr lang="en-US" sz="16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 EKG (E)</a:t>
                </a:r>
                <a:endParaRPr lang="en-US" sz="1600" dirty="0"/>
              </a:p>
              <a:p>
                <a:pPr>
                  <a:buNone/>
                </a:pPr>
                <a:r>
                  <a:rPr lang="en-US" sz="1600" u="sng" dirty="0"/>
                  <a:t>Given:</a:t>
                </a:r>
              </a:p>
              <a:p>
                <a:pPr>
                  <a:buNone/>
                </a:pPr>
                <a:r>
                  <a:rPr lang="en-US" sz="1600" b="1" dirty="0"/>
                  <a:t>Priors: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sz="16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)=0.4</m:t>
                    </m:r>
                  </m:oMath>
                </a14:m>
                <a:endParaRPr lang="en-US" sz="16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dirty="0"/>
                  <a:t> We assume </a:t>
                </a:r>
                <a:r>
                  <a:rPr lang="en-US" sz="1600" b="1" dirty="0"/>
                  <a:t>S</a:t>
                </a:r>
                <a:r>
                  <a:rPr lang="en-US" sz="1600" dirty="0"/>
                  <a:t> and </a:t>
                </a:r>
                <a:r>
                  <a:rPr lang="en-US" sz="1600" b="1" dirty="0"/>
                  <a:t>D</a:t>
                </a:r>
                <a:r>
                  <a:rPr lang="en-US" sz="1600" dirty="0"/>
                  <a:t> are independent.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9C7A9B-F246-BDF9-8F08-B72776596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42" y="749808"/>
                <a:ext cx="7093458" cy="2893100"/>
              </a:xfrm>
              <a:prstGeom prst="rect">
                <a:avLst/>
              </a:prstGeom>
              <a:blipFill>
                <a:blip r:embed="rId2"/>
                <a:stretch>
                  <a:fillRect l="-515" t="-63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85FD05F-2223-B3CE-EDFB-08E7A812C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248" y="437324"/>
            <a:ext cx="2973265" cy="237199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AC98270-431D-D048-4ED7-FABAE7B3E2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332631"/>
                  </p:ext>
                </p:extLst>
              </p:nvPr>
            </p:nvGraphicFramePr>
            <p:xfrm>
              <a:off x="285750" y="3892336"/>
              <a:ext cx="197580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092">
                      <a:extLst>
                        <a:ext uri="{9D8B030D-6E8A-4147-A177-3AD203B41FA5}">
                          <a16:colId xmlns:a16="http://schemas.microsoft.com/office/drawing/2014/main" val="1218662103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1452594991"/>
                        </a:ext>
                      </a:extLst>
                    </a:gridCol>
                    <a:gridCol w="1216342">
                      <a:extLst>
                        <a:ext uri="{9D8B030D-6E8A-4147-A177-3AD203B41FA5}">
                          <a16:colId xmlns:a16="http://schemas.microsoft.com/office/drawing/2014/main" val="3987629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9402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852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95278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0.5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3715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49243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AC98270-431D-D048-4ED7-FABAE7B3E2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332631"/>
                  </p:ext>
                </p:extLst>
              </p:nvPr>
            </p:nvGraphicFramePr>
            <p:xfrm>
              <a:off x="285750" y="3892336"/>
              <a:ext cx="197580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092">
                      <a:extLst>
                        <a:ext uri="{9D8B030D-6E8A-4147-A177-3AD203B41FA5}">
                          <a16:colId xmlns:a16="http://schemas.microsoft.com/office/drawing/2014/main" val="1218662103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1452594991"/>
                        </a:ext>
                      </a:extLst>
                    </a:gridCol>
                    <a:gridCol w="1216342">
                      <a:extLst>
                        <a:ext uri="{9D8B030D-6E8A-4147-A177-3AD203B41FA5}">
                          <a16:colId xmlns:a16="http://schemas.microsoft.com/office/drawing/2014/main" val="3987629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95" t="-1639" r="-459322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0909" t="-1639" r="-310606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000" t="-1639" r="-2500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9402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852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95278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0.5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3715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49243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203DD04-489B-1153-869C-9C196A20C7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7598831"/>
                  </p:ext>
                </p:extLst>
              </p:nvPr>
            </p:nvGraphicFramePr>
            <p:xfrm>
              <a:off x="2501964" y="3706916"/>
              <a:ext cx="178847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4018">
                      <a:extLst>
                        <a:ext uri="{9D8B030D-6E8A-4147-A177-3AD203B41FA5}">
                          <a16:colId xmlns:a16="http://schemas.microsoft.com/office/drawing/2014/main" val="1218662103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1452594991"/>
                        </a:ext>
                      </a:extLst>
                    </a:gridCol>
                    <a:gridCol w="994092">
                      <a:extLst>
                        <a:ext uri="{9D8B030D-6E8A-4147-A177-3AD203B41FA5}">
                          <a16:colId xmlns:a16="http://schemas.microsoft.com/office/drawing/2014/main" val="3987629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9402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852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9527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203DD04-489B-1153-869C-9C196A20C7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7598831"/>
                  </p:ext>
                </p:extLst>
              </p:nvPr>
            </p:nvGraphicFramePr>
            <p:xfrm>
              <a:off x="2501964" y="3706916"/>
              <a:ext cx="178847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4018">
                      <a:extLst>
                        <a:ext uri="{9D8B030D-6E8A-4147-A177-3AD203B41FA5}">
                          <a16:colId xmlns:a16="http://schemas.microsoft.com/office/drawing/2014/main" val="1218662103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1452594991"/>
                        </a:ext>
                      </a:extLst>
                    </a:gridCol>
                    <a:gridCol w="994092">
                      <a:extLst>
                        <a:ext uri="{9D8B030D-6E8A-4147-A177-3AD203B41FA5}">
                          <a16:colId xmlns:a16="http://schemas.microsoft.com/office/drawing/2014/main" val="3987629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38" t="-1639" r="-358462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1639" r="-25303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0982" t="-1639" r="-2454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9402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0.7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852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95278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990F625-3EF0-B8DE-5894-BD6555DBEE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5335906"/>
                  </p:ext>
                </p:extLst>
              </p:nvPr>
            </p:nvGraphicFramePr>
            <p:xfrm>
              <a:off x="2501964" y="5064159"/>
              <a:ext cx="178847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4018">
                      <a:extLst>
                        <a:ext uri="{9D8B030D-6E8A-4147-A177-3AD203B41FA5}">
                          <a16:colId xmlns:a16="http://schemas.microsoft.com/office/drawing/2014/main" val="1218662103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1452594991"/>
                        </a:ext>
                      </a:extLst>
                    </a:gridCol>
                    <a:gridCol w="994092">
                      <a:extLst>
                        <a:ext uri="{9D8B030D-6E8A-4147-A177-3AD203B41FA5}">
                          <a16:colId xmlns:a16="http://schemas.microsoft.com/office/drawing/2014/main" val="3987629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9402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852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9527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990F625-3EF0-B8DE-5894-BD6555DBEE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5335906"/>
                  </p:ext>
                </p:extLst>
              </p:nvPr>
            </p:nvGraphicFramePr>
            <p:xfrm>
              <a:off x="2501964" y="5064159"/>
              <a:ext cx="178847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4018">
                      <a:extLst>
                        <a:ext uri="{9D8B030D-6E8A-4147-A177-3AD203B41FA5}">
                          <a16:colId xmlns:a16="http://schemas.microsoft.com/office/drawing/2014/main" val="1218662103"/>
                        </a:ext>
                      </a:extLst>
                    </a:gridCol>
                    <a:gridCol w="400368">
                      <a:extLst>
                        <a:ext uri="{9D8B030D-6E8A-4147-A177-3AD203B41FA5}">
                          <a16:colId xmlns:a16="http://schemas.microsoft.com/office/drawing/2014/main" val="1452594991"/>
                        </a:ext>
                      </a:extLst>
                    </a:gridCol>
                    <a:gridCol w="994092">
                      <a:extLst>
                        <a:ext uri="{9D8B030D-6E8A-4147-A177-3AD203B41FA5}">
                          <a16:colId xmlns:a16="http://schemas.microsoft.com/office/drawing/2014/main" val="3987629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538" t="-1639" r="-358462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000" t="-1639" r="-253030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0982" t="-1639" r="-2454" b="-2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9402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852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  <a:endParaRPr lang="LID4096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0.1</a:t>
                          </a:r>
                          <a:endParaRPr lang="LID4096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95278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E78CD9-B347-5F62-2C73-FC18B1A69D1C}"/>
                  </a:ext>
                </a:extLst>
              </p:cNvPr>
              <p:cNvSpPr txBox="1"/>
              <p:nvPr/>
            </p:nvSpPr>
            <p:spPr>
              <a:xfrm>
                <a:off x="4633852" y="3181191"/>
                <a:ext cx="6967728" cy="3395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∈{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∈{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+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400" u="sng" dirty="0">
                    <a:ea typeface="Cambria Math" panose="02040503050406030204" pitchFamily="18" charset="0"/>
                  </a:rPr>
                  <a:t>Conditional probability breakdown: </a:t>
                </a:r>
                <a:endParaRPr lang="he-IL" sz="1400" b="0" u="sng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=0.8⋅0.3⋅0.4=0.096</m:t>
                    </m:r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0.6=0.072</m:t>
                    </m:r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=0.5⋅0.7⋅0.4=0.14</m:t>
                    </m:r>
                  </m:oMath>
                </a14:m>
                <a:endParaRPr lang="he-IL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bar>
                          <m:barPr>
                            <m:pos m:val="top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=0.1⋅0.7⋅0.6=0.042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Final result: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0.096+0.072+0.14+0.042=0.35</m:t>
                    </m:r>
                  </m:oMath>
                </a14:m>
                <a:endParaRPr lang="LID4096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E78CD9-B347-5F62-2C73-FC18B1A69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852" y="3181191"/>
                <a:ext cx="6967728" cy="3395097"/>
              </a:xfrm>
              <a:prstGeom prst="rect">
                <a:avLst/>
              </a:prstGeom>
              <a:blipFill>
                <a:blip r:embed="rId7"/>
                <a:stretch>
                  <a:fillRect l="-262" b="-89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27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03F6DF-1849-6F07-BE22-B4AA57600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6992" y="256033"/>
                <a:ext cx="5257800" cy="34381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Let’s calculate probability for someone to have </a:t>
                </a:r>
                <a:r>
                  <a:rPr lang="en-US" sz="1800" b="1" dirty="0"/>
                  <a:t>heart disease (H) </a:t>
                </a:r>
                <a:r>
                  <a:rPr lang="en-US" sz="1800" dirty="0"/>
                  <a:t>if we know he is </a:t>
                </a:r>
                <a:r>
                  <a:rPr lang="en-US" sz="1800" b="1" dirty="0"/>
                  <a:t>smoking (S)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:r>
                  <a:rPr lang="en-US" sz="1800" b="0" dirty="0"/>
                  <a:t>Breakdown: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=0.096+0.072=0.168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Final Result: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0.168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0.56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03F6DF-1849-6F07-BE22-B4AA57600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6992" y="256033"/>
                <a:ext cx="5257800" cy="3438144"/>
              </a:xfrm>
              <a:blipFill>
                <a:blip r:embed="rId2"/>
                <a:stretch>
                  <a:fillRect l="-927" t="-159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11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6A565-AAB3-FA3E-BA75-93AFD9F5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61"/>
            <a:ext cx="10515600" cy="959739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cs typeface="Times New Roman" panose="02020603050405020304" pitchFamily="18" charset="0"/>
              </a:rPr>
              <a:t>Association rules</a:t>
            </a:r>
            <a:endParaRPr lang="LID4096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7AD94-2C50-26A2-7A2A-47A918249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68" y="1188720"/>
            <a:ext cx="6038088" cy="541324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200" b="1" dirty="0" err="1"/>
              <a:t>Apriori</a:t>
            </a:r>
            <a:r>
              <a:rPr lang="en-US" sz="4200" b="1" dirty="0"/>
              <a:t> Algorithm</a:t>
            </a:r>
          </a:p>
          <a:p>
            <a:pPr marL="0" indent="0">
              <a:buNone/>
            </a:pPr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It is an </a:t>
            </a:r>
            <a:r>
              <a:rPr lang="en-US" b="1" dirty="0"/>
              <a:t>iterative, breadth-first search</a:t>
            </a:r>
            <a:r>
              <a:rPr lang="en-US" dirty="0"/>
              <a:t> approach.</a:t>
            </a:r>
          </a:p>
          <a:p>
            <a:r>
              <a:rPr lang="en-US" dirty="0"/>
              <a:t>Generates candidate </a:t>
            </a:r>
            <a:r>
              <a:rPr lang="en-US" dirty="0" err="1"/>
              <a:t>itemsets</a:t>
            </a:r>
            <a:r>
              <a:rPr lang="en-US" dirty="0"/>
              <a:t> of increasing length (</a:t>
            </a:r>
            <a:r>
              <a:rPr lang="en-US" b="1" dirty="0"/>
              <a:t>k-</a:t>
            </a:r>
            <a:r>
              <a:rPr lang="en-US" b="1" dirty="0" err="1"/>
              <a:t>itemsets</a:t>
            </a:r>
            <a:r>
              <a:rPr lang="en-US" dirty="0"/>
              <a:t>) and prunes those with low support.</a:t>
            </a:r>
          </a:p>
          <a:p>
            <a:r>
              <a:rPr lang="en-US" dirty="0"/>
              <a:t>Relies heavily on the </a:t>
            </a:r>
            <a:r>
              <a:rPr lang="en-US" b="1" dirty="0" err="1"/>
              <a:t>Apriori</a:t>
            </a:r>
            <a:r>
              <a:rPr lang="en-US" b="1" dirty="0"/>
              <a:t> property</a:t>
            </a:r>
            <a:r>
              <a:rPr lang="en-US" dirty="0"/>
              <a:t>: </a:t>
            </a:r>
            <a:r>
              <a:rPr lang="en-US" i="1" dirty="0"/>
              <a:t>If an itemset is frequent, all of its subsets are also frequent</a:t>
            </a:r>
            <a:r>
              <a:rPr lang="en-US" dirty="0"/>
              <a:t>.</a:t>
            </a:r>
          </a:p>
          <a:p>
            <a:r>
              <a:rPr lang="en-US" dirty="0"/>
              <a:t>Process:</a:t>
            </a:r>
          </a:p>
          <a:p>
            <a:pPr lvl="1"/>
            <a:r>
              <a:rPr lang="en-US" dirty="0"/>
              <a:t>Count support for 1-itemsets.</a:t>
            </a:r>
          </a:p>
          <a:p>
            <a:pPr lvl="1"/>
            <a:r>
              <a:rPr lang="en-US" dirty="0"/>
              <a:t>Generate candidate 2-itemsets from frequent 1-itemsets.</a:t>
            </a:r>
          </a:p>
          <a:p>
            <a:pPr lvl="1"/>
            <a:r>
              <a:rPr lang="en-US" dirty="0"/>
              <a:t>Repeat until no more frequent </a:t>
            </a:r>
            <a:r>
              <a:rPr lang="en-US" dirty="0" err="1"/>
              <a:t>itemsets</a:t>
            </a:r>
            <a:r>
              <a:rPr lang="en-US" dirty="0"/>
              <a:t> are found.</a:t>
            </a:r>
          </a:p>
          <a:p>
            <a:pPr marL="0" indent="0">
              <a:buNone/>
            </a:pPr>
            <a:r>
              <a:rPr lang="en-US" b="1" dirty="0"/>
              <a:t>Pros:</a:t>
            </a:r>
            <a:endParaRPr lang="en-US" dirty="0"/>
          </a:p>
          <a:p>
            <a:r>
              <a:rPr lang="en-US" dirty="0"/>
              <a:t>Simple and easy to understand.</a:t>
            </a:r>
          </a:p>
          <a:p>
            <a:r>
              <a:rPr lang="en-US" dirty="0"/>
              <a:t>Effective for small-to-medium datasets.</a:t>
            </a:r>
          </a:p>
          <a:p>
            <a:r>
              <a:rPr lang="en-US" dirty="0"/>
              <a:t>Well-established and widely implemented.</a:t>
            </a:r>
          </a:p>
          <a:p>
            <a:r>
              <a:rPr lang="en-US" b="1" dirty="0"/>
              <a:t>Cons:</a:t>
            </a:r>
            <a:endParaRPr lang="en-US" dirty="0"/>
          </a:p>
          <a:p>
            <a:r>
              <a:rPr lang="en-US" b="1" dirty="0"/>
              <a:t>High computational cost:</a:t>
            </a:r>
            <a:r>
              <a:rPr lang="en-US" dirty="0"/>
              <a:t> Generates a huge number of candidate sets, especially for large datasets.</a:t>
            </a:r>
          </a:p>
          <a:p>
            <a:r>
              <a:rPr lang="en-US" b="1" dirty="0"/>
              <a:t>Multiple database scans</a:t>
            </a:r>
            <a:r>
              <a:rPr lang="en-US" dirty="0"/>
              <a:t>, one for each itemset size, making it slow on large datasets.</a:t>
            </a:r>
          </a:p>
          <a:p>
            <a:r>
              <a:rPr lang="en-US" dirty="0"/>
              <a:t>Poor performance on sparse data with long </a:t>
            </a:r>
            <a:r>
              <a:rPr lang="en-US" dirty="0" err="1"/>
              <a:t>itemsets</a:t>
            </a:r>
            <a:r>
              <a:rPr lang="en-US" dirty="0"/>
              <a:t>.</a:t>
            </a:r>
          </a:p>
          <a:p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87096-5AF4-16C8-FE3A-F432ED531E88}"/>
              </a:ext>
            </a:extLst>
          </p:cNvPr>
          <p:cNvSpPr txBox="1"/>
          <p:nvPr/>
        </p:nvSpPr>
        <p:spPr>
          <a:xfrm>
            <a:off x="6645656" y="1041400"/>
            <a:ext cx="5455412" cy="5306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FP-Growth Algorithm (Frequent Pattern Growth)</a:t>
            </a:r>
          </a:p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1500" b="1" dirty="0"/>
              <a:t>How it 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Builds a </a:t>
            </a:r>
            <a:r>
              <a:rPr lang="en-US" sz="1600" b="1" dirty="0"/>
              <a:t>compact prefix tree structure called FP-tree</a:t>
            </a:r>
            <a:r>
              <a:rPr lang="en-US" sz="1600" dirty="0"/>
              <a:t> (Frequent Pattern Tree).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Only </a:t>
            </a:r>
            <a:r>
              <a:rPr lang="en-US" sz="1600" b="1" dirty="0"/>
              <a:t>two database scans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First scan to compute support counts.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Second scan to build the FP-tree.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Recursively mines the tree to find frequent patterns without generating candidate </a:t>
            </a:r>
            <a:r>
              <a:rPr lang="en-US" sz="1600" dirty="0" err="1"/>
              <a:t>itemsets</a:t>
            </a:r>
            <a:r>
              <a:rPr lang="en-US" sz="1600" dirty="0"/>
              <a:t> explicitly.</a:t>
            </a:r>
          </a:p>
          <a:p>
            <a:r>
              <a:rPr lang="en-US" sz="1600" b="1" dirty="0"/>
              <a:t>Pros: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Much faster than </a:t>
            </a:r>
            <a:r>
              <a:rPr lang="en-US" sz="1600" dirty="0" err="1"/>
              <a:t>Apriori</a:t>
            </a:r>
            <a:r>
              <a:rPr lang="en-US" sz="1600" dirty="0"/>
              <a:t> on large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Requires </a:t>
            </a:r>
            <a:r>
              <a:rPr lang="en-US" sz="1600" b="1" dirty="0"/>
              <a:t>fewer database scans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Handles dense datasets and long </a:t>
            </a:r>
            <a:r>
              <a:rPr lang="en-US" sz="1600" dirty="0" err="1"/>
              <a:t>itemsets</a:t>
            </a:r>
            <a:r>
              <a:rPr lang="en-US" sz="1600" dirty="0"/>
              <a:t> efficiently.</a:t>
            </a:r>
          </a:p>
          <a:p>
            <a:r>
              <a:rPr lang="en-US" sz="1600" b="1" dirty="0"/>
              <a:t>Cons: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More </a:t>
            </a:r>
            <a:r>
              <a:rPr lang="en-US" sz="1600" b="1" dirty="0"/>
              <a:t>complex to implement</a:t>
            </a:r>
            <a:r>
              <a:rPr lang="en-US" sz="1600" dirty="0"/>
              <a:t> and understand.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FP-tree might not fit in memory for extremely large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Less intuitive compared to </a:t>
            </a:r>
            <a:r>
              <a:rPr lang="en-US" sz="1600" dirty="0" err="1"/>
              <a:t>Apriori</a:t>
            </a:r>
            <a:r>
              <a:rPr lang="en-US" sz="1600" dirty="0"/>
              <a:t>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8483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F9F2-BD96-0CFC-0913-B05ED8BD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Metrics: Support, Confidence, Lift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87199F-A7C3-4AA5-CC44-1EE9F93A0A15}"/>
                  </a:ext>
                </a:extLst>
              </p:cNvPr>
              <p:cNvSpPr txBox="1"/>
              <p:nvPr/>
            </p:nvSpPr>
            <p:spPr>
              <a:xfrm>
                <a:off x="495300" y="1492240"/>
                <a:ext cx="6146800" cy="2421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Support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Definition:</a:t>
                </a:r>
                <a:r>
                  <a:rPr lang="en-US" dirty="0"/>
                  <a:t> How frequently the itemset appears in the dataset.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Formula: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𝑆𝑢𝑝𝑝𝑜𝑟𝑡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Purpose:</a:t>
                </a:r>
                <a:r>
                  <a:rPr lang="en-US" dirty="0"/>
                  <a:t> Filters out infrequent </a:t>
                </a:r>
                <a:r>
                  <a:rPr lang="en-US" dirty="0" err="1"/>
                  <a:t>itemsets</a:t>
                </a:r>
                <a:r>
                  <a:rPr lang="en-US" dirty="0"/>
                  <a:t>. High support means the rule applies to a large portion of the data.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87199F-A7C3-4AA5-CC44-1EE9F93A0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1492240"/>
                <a:ext cx="6146800" cy="2421176"/>
              </a:xfrm>
              <a:prstGeom prst="rect">
                <a:avLst/>
              </a:prstGeom>
              <a:blipFill>
                <a:blip r:embed="rId2"/>
                <a:stretch>
                  <a:fillRect l="-1487" t="-2015" b="-32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28F790-1CED-8228-F4F1-C461BD2EE655}"/>
                  </a:ext>
                </a:extLst>
              </p:cNvPr>
              <p:cNvSpPr txBox="1"/>
              <p:nvPr/>
            </p:nvSpPr>
            <p:spPr>
              <a:xfrm>
                <a:off x="6642100" y="1492240"/>
                <a:ext cx="5054600" cy="2423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Confidence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Definition:</a:t>
                </a:r>
                <a:r>
                  <a:rPr lang="en-US" dirty="0"/>
                  <a:t> Likelihood of item B being purchased when item A is purchased.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𝐶𝑜𝑛𝑓𝑖𝑑𝑒𝑛𝑐𝑒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𝑆𝑢𝑝𝑝𝑜𝑟𝑡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𝑆𝑢𝑝𝑝𝑜𝑟𝑡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Purpose:</a:t>
                </a:r>
                <a:r>
                  <a:rPr lang="en-US" dirty="0"/>
                  <a:t> Measures the reliability of the inference made by the rule.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28F790-1CED-8228-F4F1-C461BD2EE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00" y="1492240"/>
                <a:ext cx="5054600" cy="2423420"/>
              </a:xfrm>
              <a:prstGeom prst="rect">
                <a:avLst/>
              </a:prstGeom>
              <a:blipFill>
                <a:blip r:embed="rId3"/>
                <a:stretch>
                  <a:fillRect l="-1930" t="-2015" b="-32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847163-D438-55BA-9353-953DFD62E188}"/>
                  </a:ext>
                </a:extLst>
              </p:cNvPr>
              <p:cNvSpPr txBox="1"/>
              <p:nvPr/>
            </p:nvSpPr>
            <p:spPr>
              <a:xfrm>
                <a:off x="495300" y="3913416"/>
                <a:ext cx="10858500" cy="2697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Lift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Definition:</a:t>
                </a:r>
                <a:r>
                  <a:rPr lang="en-US" dirty="0"/>
                  <a:t> How much more likely A and B occur together than if they were independent.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𝐿𝑖𝑓𝑡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𝐶𝑜𝑛𝑓𝑖𝑑𝑒𝑛𝑐𝑒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𝑆𝑢𝑝𝑝𝑜𝑟𝑡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Interpretation: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Lift = 1: A and B are independent.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Lift &gt; 1: A and B appear together more often than expected (positive correlation).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Lift &lt; 1: A and B appear together less often than expected (negative correlation).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847163-D438-55BA-9353-953DFD62E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3913416"/>
                <a:ext cx="10858500" cy="2697918"/>
              </a:xfrm>
              <a:prstGeom prst="rect">
                <a:avLst/>
              </a:prstGeom>
              <a:blipFill>
                <a:blip r:embed="rId4"/>
                <a:stretch>
                  <a:fillRect l="-842" t="-1806" b="-270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80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4D92-3B37-F0E8-685A-BB850BD3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03" y="93663"/>
            <a:ext cx="10515600" cy="1325563"/>
          </a:xfrm>
        </p:spPr>
        <p:txBody>
          <a:bodyPr/>
          <a:lstStyle/>
          <a:p>
            <a:r>
              <a:rPr lang="en-US" dirty="0" err="1"/>
              <a:t>Apriori</a:t>
            </a:r>
            <a:r>
              <a:rPr lang="en-US" dirty="0"/>
              <a:t> example(</a:t>
            </a:r>
            <a:r>
              <a:rPr lang="en-US" dirty="0">
                <a:hlinkClick r:id="rId2"/>
              </a:rPr>
              <a:t>example</a:t>
            </a:r>
            <a:r>
              <a:rPr lang="en-US" dirty="0"/>
              <a:t>):</a:t>
            </a:r>
            <a:br>
              <a:rPr lang="en-US" dirty="0"/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Min-confidence&gt;=80%; Min support &gt;= 50%</a:t>
            </a:r>
            <a:endParaRPr lang="LID4096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479489-8924-DE0D-545D-E5675274B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770519"/>
              </p:ext>
            </p:extLst>
          </p:nvPr>
        </p:nvGraphicFramePr>
        <p:xfrm>
          <a:off x="365092" y="1479552"/>
          <a:ext cx="1548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028476243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568719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97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A,C,D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07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B,C,E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9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A,B,C,E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064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960651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82CEF4F7-0D8D-41CA-F28E-F633199AAF04}"/>
              </a:ext>
            </a:extLst>
          </p:cNvPr>
          <p:cNvSpPr/>
          <p:nvPr/>
        </p:nvSpPr>
        <p:spPr>
          <a:xfrm>
            <a:off x="2070100" y="2308226"/>
            <a:ext cx="5080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CCD80A-DA19-ACF7-9567-BEFF6C51B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27604"/>
              </p:ext>
            </p:extLst>
          </p:nvPr>
        </p:nvGraphicFramePr>
        <p:xfrm>
          <a:off x="2731198" y="1476376"/>
          <a:ext cx="219500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050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1163955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 (2/4)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2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25%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5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46CC3A-90FC-FF2B-F9C7-38B27B1EA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04475"/>
              </p:ext>
            </p:extLst>
          </p:nvPr>
        </p:nvGraphicFramePr>
        <p:xfrm>
          <a:off x="8765444" y="1462088"/>
          <a:ext cx="219500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050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1163955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{A,B}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25%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2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{A,C}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{A,E}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25%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{B,C}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{B,E}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23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{C,E}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206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B18CFE-67D0-D513-8DB6-A3BC4A09C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95755"/>
              </p:ext>
            </p:extLst>
          </p:nvPr>
        </p:nvGraphicFramePr>
        <p:xfrm>
          <a:off x="5740399" y="1479552"/>
          <a:ext cx="21950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050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1163955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 (2/4)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2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4E15645F-76A0-63F4-A43F-BA46D8D88CA1}"/>
              </a:ext>
            </a:extLst>
          </p:cNvPr>
          <p:cNvSpPr/>
          <p:nvPr/>
        </p:nvSpPr>
        <p:spPr>
          <a:xfrm>
            <a:off x="5079301" y="2308226"/>
            <a:ext cx="5080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08FBB0F-DD1E-1A56-DA01-B83AC13B9320}"/>
              </a:ext>
            </a:extLst>
          </p:cNvPr>
          <p:cNvSpPr/>
          <p:nvPr/>
        </p:nvSpPr>
        <p:spPr>
          <a:xfrm>
            <a:off x="8088502" y="2308226"/>
            <a:ext cx="5080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B302F7-3DCB-245D-0EEA-1D690510A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139838"/>
              </p:ext>
            </p:extLst>
          </p:nvPr>
        </p:nvGraphicFramePr>
        <p:xfrm>
          <a:off x="306895" y="3902075"/>
          <a:ext cx="20934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050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{A,C}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{B,C}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{B,E}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23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{C,E}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42066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2AC75791-9102-6408-41E9-A1D975C0F794}"/>
              </a:ext>
            </a:extLst>
          </p:cNvPr>
          <p:cNvSpPr/>
          <p:nvPr/>
        </p:nvSpPr>
        <p:spPr>
          <a:xfrm>
            <a:off x="2540698" y="4749800"/>
            <a:ext cx="5080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B144FDC-7602-06B3-0549-BE660B114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900264"/>
              </p:ext>
            </p:extLst>
          </p:nvPr>
        </p:nvGraphicFramePr>
        <p:xfrm>
          <a:off x="3189096" y="4458335"/>
          <a:ext cx="209340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050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{B,C,E}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2368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DBBDDC3-CFEF-2FC6-F070-CF238A8089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3224330"/>
                  </p:ext>
                </p:extLst>
              </p:nvPr>
            </p:nvGraphicFramePr>
            <p:xfrm>
              <a:off x="5798946" y="4265928"/>
              <a:ext cx="404736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1248">
                      <a:extLst>
                        <a:ext uri="{9D8B030D-6E8A-4147-A177-3AD203B41FA5}">
                          <a16:colId xmlns:a16="http://schemas.microsoft.com/office/drawing/2014/main" val="337824610"/>
                        </a:ext>
                      </a:extLst>
                    </a:gridCol>
                    <a:gridCol w="1062355">
                      <a:extLst>
                        <a:ext uri="{9D8B030D-6E8A-4147-A177-3AD203B41FA5}">
                          <a16:colId xmlns:a16="http://schemas.microsoft.com/office/drawing/2014/main" val="1892619497"/>
                        </a:ext>
                      </a:extLst>
                    </a:gridCol>
                    <a:gridCol w="1483043">
                      <a:extLst>
                        <a:ext uri="{9D8B030D-6E8A-4147-A177-3AD203B41FA5}">
                          <a16:colId xmlns:a16="http://schemas.microsoft.com/office/drawing/2014/main" val="3724383724"/>
                        </a:ext>
                      </a:extLst>
                    </a:gridCol>
                    <a:gridCol w="660718">
                      <a:extLst>
                        <a:ext uri="{9D8B030D-6E8A-4147-A177-3AD203B41FA5}">
                          <a16:colId xmlns:a16="http://schemas.microsoft.com/office/drawing/2014/main" val="1900975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Rule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Confidence 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Lift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5129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1.33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881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66%</a:t>
                          </a:r>
                          <a:endParaRPr lang="LID4096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540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0810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262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4708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DBBDDC3-CFEF-2FC6-F070-CF238A8089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3224330"/>
                  </p:ext>
                </p:extLst>
              </p:nvPr>
            </p:nvGraphicFramePr>
            <p:xfrm>
              <a:off x="5798946" y="4265928"/>
              <a:ext cx="404736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1248">
                      <a:extLst>
                        <a:ext uri="{9D8B030D-6E8A-4147-A177-3AD203B41FA5}">
                          <a16:colId xmlns:a16="http://schemas.microsoft.com/office/drawing/2014/main" val="337824610"/>
                        </a:ext>
                      </a:extLst>
                    </a:gridCol>
                    <a:gridCol w="1062355">
                      <a:extLst>
                        <a:ext uri="{9D8B030D-6E8A-4147-A177-3AD203B41FA5}">
                          <a16:colId xmlns:a16="http://schemas.microsoft.com/office/drawing/2014/main" val="1892619497"/>
                        </a:ext>
                      </a:extLst>
                    </a:gridCol>
                    <a:gridCol w="1483043">
                      <a:extLst>
                        <a:ext uri="{9D8B030D-6E8A-4147-A177-3AD203B41FA5}">
                          <a16:colId xmlns:a16="http://schemas.microsoft.com/office/drawing/2014/main" val="3724383724"/>
                        </a:ext>
                      </a:extLst>
                    </a:gridCol>
                    <a:gridCol w="660718">
                      <a:extLst>
                        <a:ext uri="{9D8B030D-6E8A-4147-A177-3AD203B41FA5}">
                          <a16:colId xmlns:a16="http://schemas.microsoft.com/office/drawing/2014/main" val="1900975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Rule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Confidence 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Lift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5129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725" t="-106557" r="-38478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1.33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881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725" t="-206557" r="-38478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66%</a:t>
                          </a:r>
                          <a:endParaRPr lang="LID4096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540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0810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262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47080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A69DA8E-1BC6-C462-C5C7-69E1C8F98F2B}"/>
              </a:ext>
            </a:extLst>
          </p:cNvPr>
          <p:cNvSpPr txBox="1"/>
          <p:nvPr/>
        </p:nvSpPr>
        <p:spPr>
          <a:xfrm>
            <a:off x="10019950" y="4272527"/>
            <a:ext cx="18809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How to build a rule:</a:t>
            </a:r>
          </a:p>
          <a:p>
            <a:r>
              <a:rPr lang="en-US" sz="1200" dirty="0"/>
              <a:t>Basically, try </a:t>
            </a:r>
            <a:r>
              <a:rPr lang="en-US" sz="1200" b="1" dirty="0"/>
              <a:t>all possible combinations of antecedent and consequent</a:t>
            </a:r>
            <a:r>
              <a:rPr lang="en-US" sz="1200" dirty="0"/>
              <a:t> as long 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Antecedent ∪ Consequent = the full itemset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Antecedent ≠ empty,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Consequent ≠ empty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5032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89D5A4-73CA-C350-879D-AC8BEE071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331909"/>
              </p:ext>
            </p:extLst>
          </p:nvPr>
        </p:nvGraphicFramePr>
        <p:xfrm>
          <a:off x="146495" y="129160"/>
          <a:ext cx="1954310" cy="3644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668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927642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Items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TID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{A, B, C}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26648"/>
                  </a:ext>
                </a:extLst>
              </a:tr>
              <a:tr h="3446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{D, E, 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{A, C, F}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{D, E}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58403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{B, F, D}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{A, C, D, E}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910892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{D, F, A}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687673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{B, C}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044795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{A, C, D, E}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288386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{B, F}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4146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5F05B36-62A7-6AAF-091B-E4DBB6540E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0704565"/>
                  </p:ext>
                </p:extLst>
              </p:nvPr>
            </p:nvGraphicFramePr>
            <p:xfrm>
              <a:off x="146495" y="4503800"/>
              <a:ext cx="404736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1248">
                      <a:extLst>
                        <a:ext uri="{9D8B030D-6E8A-4147-A177-3AD203B41FA5}">
                          <a16:colId xmlns:a16="http://schemas.microsoft.com/office/drawing/2014/main" val="337824610"/>
                        </a:ext>
                      </a:extLst>
                    </a:gridCol>
                    <a:gridCol w="1062355">
                      <a:extLst>
                        <a:ext uri="{9D8B030D-6E8A-4147-A177-3AD203B41FA5}">
                          <a16:colId xmlns:a16="http://schemas.microsoft.com/office/drawing/2014/main" val="1892619497"/>
                        </a:ext>
                      </a:extLst>
                    </a:gridCol>
                    <a:gridCol w="1483043">
                      <a:extLst>
                        <a:ext uri="{9D8B030D-6E8A-4147-A177-3AD203B41FA5}">
                          <a16:colId xmlns:a16="http://schemas.microsoft.com/office/drawing/2014/main" val="3724383724"/>
                        </a:ext>
                      </a:extLst>
                    </a:gridCol>
                    <a:gridCol w="660718">
                      <a:extLst>
                        <a:ext uri="{9D8B030D-6E8A-4147-A177-3AD203B41FA5}">
                          <a16:colId xmlns:a16="http://schemas.microsoft.com/office/drawing/2014/main" val="1900975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Rule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Confidence 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Lift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5129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1.33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881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66%</a:t>
                          </a:r>
                          <a:endParaRPr lang="LID4096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540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0810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262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4708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5F05B36-62A7-6AAF-091B-E4DBB6540E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0704565"/>
                  </p:ext>
                </p:extLst>
              </p:nvPr>
            </p:nvGraphicFramePr>
            <p:xfrm>
              <a:off x="146495" y="4503800"/>
              <a:ext cx="404736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1248">
                      <a:extLst>
                        <a:ext uri="{9D8B030D-6E8A-4147-A177-3AD203B41FA5}">
                          <a16:colId xmlns:a16="http://schemas.microsoft.com/office/drawing/2014/main" val="337824610"/>
                        </a:ext>
                      </a:extLst>
                    </a:gridCol>
                    <a:gridCol w="1062355">
                      <a:extLst>
                        <a:ext uri="{9D8B030D-6E8A-4147-A177-3AD203B41FA5}">
                          <a16:colId xmlns:a16="http://schemas.microsoft.com/office/drawing/2014/main" val="1892619497"/>
                        </a:ext>
                      </a:extLst>
                    </a:gridCol>
                    <a:gridCol w="1483043">
                      <a:extLst>
                        <a:ext uri="{9D8B030D-6E8A-4147-A177-3AD203B41FA5}">
                          <a16:colId xmlns:a16="http://schemas.microsoft.com/office/drawing/2014/main" val="3724383724"/>
                        </a:ext>
                      </a:extLst>
                    </a:gridCol>
                    <a:gridCol w="660718">
                      <a:extLst>
                        <a:ext uri="{9D8B030D-6E8A-4147-A177-3AD203B41FA5}">
                          <a16:colId xmlns:a16="http://schemas.microsoft.com/office/drawing/2014/main" val="1900975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Rule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Confidence 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Lift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5129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449" t="-106557" r="-38478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1.33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881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449" t="-206557" r="-38478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50%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66%</a:t>
                          </a:r>
                          <a:endParaRPr lang="LID4096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540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0810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262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470808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F19E7F-80DB-70C1-96E2-A9BFEB3A8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918125"/>
              </p:ext>
            </p:extLst>
          </p:nvPr>
        </p:nvGraphicFramePr>
        <p:xfrm>
          <a:off x="2503615" y="129160"/>
          <a:ext cx="2430526" cy="2310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66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14080991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30009">
                <a:tc>
                  <a:txBody>
                    <a:bodyPr/>
                    <a:lstStyle/>
                    <a:p>
                      <a:r>
                        <a:rPr lang="en-US" sz="1400" dirty="0"/>
                        <a:t>Itemset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Count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{A}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60%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26648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{B}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40%</a:t>
                      </a:r>
                      <a:endParaRPr lang="LID4096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{C}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50%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{D}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60%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58403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{E}</a:t>
                      </a:r>
                      <a:endParaRPr lang="LID4096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LID4096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40%</a:t>
                      </a:r>
                      <a:endParaRPr lang="LID4096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{F}</a:t>
                      </a:r>
                      <a:endParaRPr lang="LID4096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LID4096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40%</a:t>
                      </a:r>
                      <a:endParaRPr lang="LID4096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91089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AC0994-E379-6492-51E0-7F62DFD2D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036523"/>
              </p:ext>
            </p:extLst>
          </p:nvPr>
        </p:nvGraphicFramePr>
        <p:xfrm>
          <a:off x="5336951" y="148592"/>
          <a:ext cx="2430526" cy="1320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566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14080991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30009">
                <a:tc>
                  <a:txBody>
                    <a:bodyPr/>
                    <a:lstStyle/>
                    <a:p>
                      <a:r>
                        <a:rPr lang="en-US" sz="1400" dirty="0"/>
                        <a:t>Itemset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Count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{A,C}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40%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26648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{A,D}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40%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{C,D}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58403"/>
                  </a:ext>
                </a:extLst>
              </a:tr>
            </a:tbl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53F69786-CAE1-A120-AC1F-04621EFFDBA9}"/>
              </a:ext>
            </a:extLst>
          </p:cNvPr>
          <p:cNvGrpSpPr/>
          <p:nvPr/>
        </p:nvGrpSpPr>
        <p:grpSpPr>
          <a:xfrm>
            <a:off x="5909188" y="2880851"/>
            <a:ext cx="2546553" cy="2202427"/>
            <a:chOff x="5565059" y="2753032"/>
            <a:chExt cx="2546553" cy="220242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831DF7-1E03-C556-2F79-FEBC35A97A68}"/>
                </a:ext>
              </a:extLst>
            </p:cNvPr>
            <p:cNvSpPr/>
            <p:nvPr/>
          </p:nvSpPr>
          <p:spPr>
            <a:xfrm>
              <a:off x="5565059" y="3691183"/>
              <a:ext cx="353961" cy="3261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endParaRPr lang="LID4096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1523F50-39DD-7B85-E065-40EB0BF7B85F}"/>
                </a:ext>
              </a:extLst>
            </p:cNvPr>
            <p:cNvSpPr/>
            <p:nvPr/>
          </p:nvSpPr>
          <p:spPr>
            <a:xfrm>
              <a:off x="6597445" y="2753032"/>
              <a:ext cx="481781" cy="4916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h1</a:t>
              </a:r>
              <a:endParaRPr lang="LID4096" sz="110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29F6F52-F8AD-7AEF-9918-BF4659DB9598}"/>
                </a:ext>
              </a:extLst>
            </p:cNvPr>
            <p:cNvSpPr/>
            <p:nvPr/>
          </p:nvSpPr>
          <p:spPr>
            <a:xfrm>
              <a:off x="6597445" y="3608439"/>
              <a:ext cx="481781" cy="4916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h2</a:t>
              </a:r>
              <a:endParaRPr lang="LID4096" sz="110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A82145F-062E-C5C2-EB24-5A8A5E8CFC9B}"/>
                </a:ext>
              </a:extLst>
            </p:cNvPr>
            <p:cNvSpPr/>
            <p:nvPr/>
          </p:nvSpPr>
          <p:spPr>
            <a:xfrm>
              <a:off x="6582696" y="4463846"/>
              <a:ext cx="481781" cy="4916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h3</a:t>
              </a:r>
              <a:endParaRPr lang="LID4096" sz="11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C061FBD-495A-8C9E-406A-B045677307A2}"/>
                </a:ext>
              </a:extLst>
            </p:cNvPr>
            <p:cNvSpPr/>
            <p:nvPr/>
          </p:nvSpPr>
          <p:spPr>
            <a:xfrm>
              <a:off x="7757651" y="3691183"/>
              <a:ext cx="353961" cy="3261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</a:t>
              </a:r>
              <a:endParaRPr lang="LID4096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EA61A74-418A-A2F7-3DAE-3D53B56E4AF0}"/>
                </a:ext>
              </a:extLst>
            </p:cNvPr>
            <p:cNvCxnSpPr>
              <a:cxnSpLocks/>
              <a:stCxn id="13" idx="3"/>
              <a:endCxn id="14" idx="3"/>
            </p:cNvCxnSpPr>
            <p:nvPr/>
          </p:nvCxnSpPr>
          <p:spPr>
            <a:xfrm flipV="1">
              <a:off x="5919020" y="3172650"/>
              <a:ext cx="748980" cy="6815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99C51D8-3627-A971-4E71-594EE6FE27C8}"/>
                </a:ext>
              </a:extLst>
            </p:cNvPr>
            <p:cNvCxnSpPr>
              <a:stCxn id="13" idx="3"/>
              <a:endCxn id="16" idx="2"/>
            </p:cNvCxnSpPr>
            <p:nvPr/>
          </p:nvCxnSpPr>
          <p:spPr>
            <a:xfrm>
              <a:off x="5919020" y="3854245"/>
              <a:ext cx="663676" cy="8554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7DD245D-669A-1984-1D66-4247B6E99271}"/>
                </a:ext>
              </a:extLst>
            </p:cNvPr>
            <p:cNvCxnSpPr>
              <a:stCxn id="13" idx="3"/>
              <a:endCxn id="15" idx="2"/>
            </p:cNvCxnSpPr>
            <p:nvPr/>
          </p:nvCxnSpPr>
          <p:spPr>
            <a:xfrm>
              <a:off x="5919020" y="3854245"/>
              <a:ext cx="67842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B1DA828-B939-1A1E-4098-E70E3BD0DE74}"/>
                </a:ext>
              </a:extLst>
            </p:cNvPr>
            <p:cNvCxnSpPr>
              <a:stCxn id="14" idx="6"/>
              <a:endCxn id="17" idx="1"/>
            </p:cNvCxnSpPr>
            <p:nvPr/>
          </p:nvCxnSpPr>
          <p:spPr>
            <a:xfrm>
              <a:off x="7079226" y="2998839"/>
              <a:ext cx="678425" cy="8554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8613368-C407-B2D6-6D82-0EA3FA4999CD}"/>
                </a:ext>
              </a:extLst>
            </p:cNvPr>
            <p:cNvCxnSpPr>
              <a:stCxn id="15" idx="6"/>
              <a:endCxn id="17" idx="1"/>
            </p:cNvCxnSpPr>
            <p:nvPr/>
          </p:nvCxnSpPr>
          <p:spPr>
            <a:xfrm flipV="1">
              <a:off x="7079226" y="3854245"/>
              <a:ext cx="67842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F14EB8E-3552-6581-7CB4-2E3E8365C098}"/>
                </a:ext>
              </a:extLst>
            </p:cNvPr>
            <p:cNvCxnSpPr>
              <a:stCxn id="16" idx="6"/>
              <a:endCxn id="17" idx="1"/>
            </p:cNvCxnSpPr>
            <p:nvPr/>
          </p:nvCxnSpPr>
          <p:spPr>
            <a:xfrm flipV="1">
              <a:off x="7064477" y="3854245"/>
              <a:ext cx="693174" cy="8554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1845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5D55A7-DFC6-1E23-5FCB-29A395760F1E}"/>
              </a:ext>
            </a:extLst>
          </p:cNvPr>
          <p:cNvSpPr/>
          <p:nvPr/>
        </p:nvSpPr>
        <p:spPr>
          <a:xfrm>
            <a:off x="5430520" y="386080"/>
            <a:ext cx="1330960" cy="7721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A37DAC-EE98-0954-E53F-911B531D72E0}"/>
              </a:ext>
            </a:extLst>
          </p:cNvPr>
          <p:cNvCxnSpPr>
            <a:stCxn id="4" idx="2"/>
          </p:cNvCxnSpPr>
          <p:nvPr/>
        </p:nvCxnSpPr>
        <p:spPr>
          <a:xfrm flipH="1">
            <a:off x="5100320" y="1158240"/>
            <a:ext cx="995680" cy="680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C1E02B-9E54-CCB4-1500-F55A8F7E195C}"/>
              </a:ext>
            </a:extLst>
          </p:cNvPr>
          <p:cNvCxnSpPr>
            <a:stCxn id="4" idx="2"/>
          </p:cNvCxnSpPr>
          <p:nvPr/>
        </p:nvCxnSpPr>
        <p:spPr>
          <a:xfrm>
            <a:off x="6096000" y="1158240"/>
            <a:ext cx="883920" cy="680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982064-574D-E2E6-F51B-D88D94009699}"/>
              </a:ext>
            </a:extLst>
          </p:cNvPr>
          <p:cNvSpPr/>
          <p:nvPr/>
        </p:nvSpPr>
        <p:spPr>
          <a:xfrm>
            <a:off x="4267200" y="1838960"/>
            <a:ext cx="1330960" cy="7721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A8FB4F-1F63-6357-9452-D9002EEF6718}"/>
              </a:ext>
            </a:extLst>
          </p:cNvPr>
          <p:cNvSpPr/>
          <p:nvPr/>
        </p:nvSpPr>
        <p:spPr>
          <a:xfrm>
            <a:off x="6314440" y="1838960"/>
            <a:ext cx="1330960" cy="7721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5129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CD36C5-51D2-4AD2-7368-7A578E26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03" y="93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FP-Growth example (</a:t>
            </a:r>
            <a:r>
              <a:rPr lang="en-US" dirty="0">
                <a:hlinkClick r:id="rId2"/>
              </a:rPr>
              <a:t>example</a:t>
            </a:r>
            <a:r>
              <a:rPr lang="en-US" dirty="0"/>
              <a:t>):</a:t>
            </a:r>
            <a:br>
              <a:rPr lang="en-US" dirty="0"/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Min-confidence&gt;=80%; Min support &gt;= 50%</a:t>
            </a:r>
            <a:endParaRPr lang="LID4096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B85BE9-69D7-A46B-8DA8-B181A473F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008770"/>
              </p:ext>
            </p:extLst>
          </p:nvPr>
        </p:nvGraphicFramePr>
        <p:xfrm>
          <a:off x="365092" y="1479552"/>
          <a:ext cx="1548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028476243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568719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97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A,C,D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07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B,C,E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9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A,B,C,E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064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960651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D02C87F5-6E09-CD92-A8AA-7E7A32679652}"/>
              </a:ext>
            </a:extLst>
          </p:cNvPr>
          <p:cNvSpPr/>
          <p:nvPr/>
        </p:nvSpPr>
        <p:spPr>
          <a:xfrm>
            <a:off x="2184558" y="2308226"/>
            <a:ext cx="5080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239B04-5BC9-3B30-79DA-4A72ADCF3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320013"/>
              </p:ext>
            </p:extLst>
          </p:nvPr>
        </p:nvGraphicFramePr>
        <p:xfrm>
          <a:off x="2963322" y="1476376"/>
          <a:ext cx="2691684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050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711347932"/>
                    </a:ext>
                  </a:extLst>
                </a:gridCol>
                <a:gridCol w="791954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{A}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 (2/4)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2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{C}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{D}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25%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58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BF359BA1-438B-E1D1-A118-7A8024B0B756}"/>
              </a:ext>
            </a:extLst>
          </p:cNvPr>
          <p:cNvSpPr/>
          <p:nvPr/>
        </p:nvSpPr>
        <p:spPr>
          <a:xfrm flipV="1">
            <a:off x="6003192" y="2308226"/>
            <a:ext cx="5080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3601CDD-749F-A0FF-3B24-FF75A59B8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989478"/>
              </p:ext>
            </p:extLst>
          </p:nvPr>
        </p:nvGraphicFramePr>
        <p:xfrm>
          <a:off x="6859378" y="1476376"/>
          <a:ext cx="269168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050">
                  <a:extLst>
                    <a:ext uri="{9D8B030D-6E8A-4147-A177-3AD203B41FA5}">
                      <a16:colId xmlns:a16="http://schemas.microsoft.com/office/drawing/2014/main" val="45694719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711347932"/>
                    </a:ext>
                  </a:extLst>
                </a:gridCol>
                <a:gridCol w="791954">
                  <a:extLst>
                    <a:ext uri="{9D8B030D-6E8A-4147-A177-3AD203B41FA5}">
                      <a16:colId xmlns:a16="http://schemas.microsoft.com/office/drawing/2014/main" val="1705187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Itemset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{C}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4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{E}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66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{A}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5665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567A5A7-15A2-2A6F-BCBF-E12922B29B5F}"/>
              </a:ext>
            </a:extLst>
          </p:cNvPr>
          <p:cNvSpPr txBox="1"/>
          <p:nvPr/>
        </p:nvSpPr>
        <p:spPr>
          <a:xfrm>
            <a:off x="1936368" y="2555876"/>
            <a:ext cx="1181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Calculate Item Supports</a:t>
            </a:r>
            <a:endParaRPr lang="LID4096" sz="11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337B6D-86E8-0F33-2D07-CBC0A2F93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542018"/>
              </p:ext>
            </p:extLst>
          </p:nvPr>
        </p:nvGraphicFramePr>
        <p:xfrm>
          <a:off x="365092" y="4451352"/>
          <a:ext cx="351923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028476243"/>
                    </a:ext>
                  </a:extLst>
                </a:gridCol>
                <a:gridCol w="975297">
                  <a:extLst>
                    <a:ext uri="{9D8B030D-6E8A-4147-A177-3AD203B41FA5}">
                      <a16:colId xmlns:a16="http://schemas.microsoft.com/office/drawing/2014/main" val="568719253"/>
                    </a:ext>
                  </a:extLst>
                </a:gridCol>
                <a:gridCol w="1970532">
                  <a:extLst>
                    <a:ext uri="{9D8B030D-6E8A-4147-A177-3AD203B41FA5}">
                      <a16:colId xmlns:a16="http://schemas.microsoft.com/office/drawing/2014/main" val="690160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Ordered item set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97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A,C,D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{C,A}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07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B,C,E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{B,C,E}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9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A,B,C,E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{B,C,E,A}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064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{B,E}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960651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0725938B-C9F9-619C-264E-29C2DB0F5466}"/>
              </a:ext>
            </a:extLst>
          </p:cNvPr>
          <p:cNvSpPr/>
          <p:nvPr/>
        </p:nvSpPr>
        <p:spPr>
          <a:xfrm flipV="1">
            <a:off x="9899248" y="2308226"/>
            <a:ext cx="5080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67E57B-75AB-8F4D-36A9-0093FA016638}"/>
              </a:ext>
            </a:extLst>
          </p:cNvPr>
          <p:cNvSpPr txBox="1"/>
          <p:nvPr/>
        </p:nvSpPr>
        <p:spPr>
          <a:xfrm>
            <a:off x="365092" y="6305552"/>
            <a:ext cx="6382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/>
              <a:t>FP-Growth algorithm sorts items in each transaction by descending frequency</a:t>
            </a:r>
            <a:r>
              <a:rPr lang="en-US" sz="1400" dirty="0"/>
              <a:t> in the entire dataset.</a:t>
            </a:r>
            <a:endParaRPr lang="LID4096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DAB56D-437A-1E1E-DE90-77611F7CBE7F}"/>
              </a:ext>
            </a:extLst>
          </p:cNvPr>
          <p:cNvSpPr txBox="1"/>
          <p:nvPr/>
        </p:nvSpPr>
        <p:spPr>
          <a:xfrm>
            <a:off x="5808049" y="3950490"/>
            <a:ext cx="4115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Start with a null root. For each transaction, add a path in the tree:</a:t>
            </a:r>
            <a:endParaRPr lang="LID4096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6EC9B5-F58E-AEC7-602C-41C697B27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792" y="4212100"/>
            <a:ext cx="1930856" cy="251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86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8EB-DF28-1463-19C7-EBDA4497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Clustering – AGNES</a:t>
            </a:r>
            <a:b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Exercise 2 : Hierarchical clustering</a:t>
            </a:r>
            <a:br>
              <a:rPr lang="en-US" alt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alt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3A7C2-3B30-9C9D-6BA1-ECD8A1B31774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400" dirty="0">
                <a:cs typeface="Arial" panose="020B0604020202020204" pitchFamily="34" charset="0"/>
              </a:rPr>
              <a:t>Use single-link, complete-link, average-link agglomerative clustering to cluster the following 8 examples:</a:t>
            </a:r>
          </a:p>
          <a:p>
            <a:r>
              <a:rPr lang="pt-BR" altLang="en-US" sz="2400" dirty="0">
                <a:cs typeface="Arial" panose="020B0604020202020204" pitchFamily="34" charset="0"/>
              </a:rPr>
              <a:t>A1=(2,10), A2=(2,5), A3=(8,4), A4=(5,8), A5=(7,5), A6=(6,4), A7=(1,2), A8=(4,9).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E5D4C5-8F78-14D3-3F48-E91C39D74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637635"/>
              </p:ext>
            </p:extLst>
          </p:nvPr>
        </p:nvGraphicFramePr>
        <p:xfrm>
          <a:off x="6093102" y="2121408"/>
          <a:ext cx="543528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93">
                  <a:extLst>
                    <a:ext uri="{9D8B030D-6E8A-4147-A177-3AD203B41FA5}">
                      <a16:colId xmlns:a16="http://schemas.microsoft.com/office/drawing/2014/main" val="1488731081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2703274873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80424586"/>
                    </a:ext>
                  </a:extLst>
                </a:gridCol>
                <a:gridCol w="660718">
                  <a:extLst>
                    <a:ext uri="{9D8B030D-6E8A-4147-A177-3AD203B41FA5}">
                      <a16:colId xmlns:a16="http://schemas.microsoft.com/office/drawing/2014/main" val="4030744201"/>
                    </a:ext>
                  </a:extLst>
                </a:gridCol>
                <a:gridCol w="660718">
                  <a:extLst>
                    <a:ext uri="{9D8B030D-6E8A-4147-A177-3AD203B41FA5}">
                      <a16:colId xmlns:a16="http://schemas.microsoft.com/office/drawing/2014/main" val="3204962475"/>
                    </a:ext>
                  </a:extLst>
                </a:gridCol>
                <a:gridCol w="660718">
                  <a:extLst>
                    <a:ext uri="{9D8B030D-6E8A-4147-A177-3AD203B41FA5}">
                      <a16:colId xmlns:a16="http://schemas.microsoft.com/office/drawing/2014/main" val="532705565"/>
                    </a:ext>
                  </a:extLst>
                </a:gridCol>
                <a:gridCol w="660718">
                  <a:extLst>
                    <a:ext uri="{9D8B030D-6E8A-4147-A177-3AD203B41FA5}">
                      <a16:colId xmlns:a16="http://schemas.microsoft.com/office/drawing/2014/main" val="1563535841"/>
                    </a:ext>
                  </a:extLst>
                </a:gridCol>
                <a:gridCol w="660718">
                  <a:extLst>
                    <a:ext uri="{9D8B030D-6E8A-4147-A177-3AD203B41FA5}">
                      <a16:colId xmlns:a16="http://schemas.microsoft.com/office/drawing/2014/main" val="2813142834"/>
                    </a:ext>
                  </a:extLst>
                </a:gridCol>
                <a:gridCol w="660718">
                  <a:extLst>
                    <a:ext uri="{9D8B030D-6E8A-4147-A177-3AD203B41FA5}">
                      <a16:colId xmlns:a16="http://schemas.microsoft.com/office/drawing/2014/main" val="528587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3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8.49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935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4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06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2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5.39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0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1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72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68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6EFDF-2D99-9180-DF3F-4465E59B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8CD1FB-2033-EA5A-9638-5DCEED5C1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48895-1419-E70C-92E4-7312185D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96" y="165989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Clustering – AGNES</a:t>
            </a:r>
            <a:b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Exercise 2 : Hierarchical clustering</a:t>
            </a:r>
            <a:br>
              <a:rPr lang="en-US" alt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alt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7E13F58-3272-6E13-5284-164D58A16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CA847-2670-71DB-16DD-9B8BEB27052F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5FF22-D7E7-16F1-EFDF-7A5A5CC6B5C4}"/>
              </a:ext>
            </a:extLst>
          </p:cNvPr>
          <p:cNvSpPr txBox="1"/>
          <p:nvPr/>
        </p:nvSpPr>
        <p:spPr>
          <a:xfrm>
            <a:off x="630936" y="2500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cs typeface="Arial" panose="020B0604020202020204" pitchFamily="34" charset="0"/>
              </a:rPr>
              <a:t>Single link (minimal distance):</a:t>
            </a:r>
            <a:endParaRPr lang="LID4096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3AC733E-0AFC-DDBB-DFF1-295E0A29E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190314"/>
              </p:ext>
            </p:extLst>
          </p:nvPr>
        </p:nvGraphicFramePr>
        <p:xfrm>
          <a:off x="296432" y="2912272"/>
          <a:ext cx="4287367" cy="2371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31">
                  <a:extLst>
                    <a:ext uri="{9D8B030D-6E8A-4147-A177-3AD203B41FA5}">
                      <a16:colId xmlns:a16="http://schemas.microsoft.com/office/drawing/2014/main" val="1488731081"/>
                    </a:ext>
                  </a:extLst>
                </a:gridCol>
                <a:gridCol w="388440">
                  <a:extLst>
                    <a:ext uri="{9D8B030D-6E8A-4147-A177-3AD203B41FA5}">
                      <a16:colId xmlns:a16="http://schemas.microsoft.com/office/drawing/2014/main" val="2703274873"/>
                    </a:ext>
                  </a:extLst>
                </a:gridCol>
                <a:gridCol w="388440">
                  <a:extLst>
                    <a:ext uri="{9D8B030D-6E8A-4147-A177-3AD203B41FA5}">
                      <a16:colId xmlns:a16="http://schemas.microsoft.com/office/drawing/2014/main" val="80424586"/>
                    </a:ext>
                  </a:extLst>
                </a:gridCol>
                <a:gridCol w="521176">
                  <a:extLst>
                    <a:ext uri="{9D8B030D-6E8A-4147-A177-3AD203B41FA5}">
                      <a16:colId xmlns:a16="http://schemas.microsoft.com/office/drawing/2014/main" val="4030744201"/>
                    </a:ext>
                  </a:extLst>
                </a:gridCol>
                <a:gridCol w="521176">
                  <a:extLst>
                    <a:ext uri="{9D8B030D-6E8A-4147-A177-3AD203B41FA5}">
                      <a16:colId xmlns:a16="http://schemas.microsoft.com/office/drawing/2014/main" val="3204962475"/>
                    </a:ext>
                  </a:extLst>
                </a:gridCol>
                <a:gridCol w="521176">
                  <a:extLst>
                    <a:ext uri="{9D8B030D-6E8A-4147-A177-3AD203B41FA5}">
                      <a16:colId xmlns:a16="http://schemas.microsoft.com/office/drawing/2014/main" val="532705565"/>
                    </a:ext>
                  </a:extLst>
                </a:gridCol>
                <a:gridCol w="515409">
                  <a:extLst>
                    <a:ext uri="{9D8B030D-6E8A-4147-A177-3AD203B41FA5}">
                      <a16:colId xmlns:a16="http://schemas.microsoft.com/office/drawing/2014/main" val="1563535841"/>
                    </a:ext>
                  </a:extLst>
                </a:gridCol>
                <a:gridCol w="526943">
                  <a:extLst>
                    <a:ext uri="{9D8B030D-6E8A-4147-A177-3AD203B41FA5}">
                      <a16:colId xmlns:a16="http://schemas.microsoft.com/office/drawing/2014/main" val="2813142834"/>
                    </a:ext>
                  </a:extLst>
                </a:gridCol>
                <a:gridCol w="521176">
                  <a:extLst>
                    <a:ext uri="{9D8B030D-6E8A-4147-A177-3AD203B41FA5}">
                      <a16:colId xmlns:a16="http://schemas.microsoft.com/office/drawing/2014/main" val="528587114"/>
                    </a:ext>
                  </a:extLst>
                </a:gridCol>
              </a:tblGrid>
              <a:tr h="263471"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A3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A4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A5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A6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A7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A8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3953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8.49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3.61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7.07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7.21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8.06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2.24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935663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6.08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4.24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4.12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3.16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4.47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547037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A3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1.41</a:t>
                      </a:r>
                      <a:endParaRPr lang="LID4096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7.28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6.4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06982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A4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3.61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4.12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7.21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1.41</a:t>
                      </a:r>
                      <a:endParaRPr lang="LID4096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94701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A5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1.41</a:t>
                      </a:r>
                      <a:endParaRPr lang="LID4096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6.71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223707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A6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5.39</a:t>
                      </a:r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5.39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00503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A7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7.62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215197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A8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72543"/>
                  </a:ext>
                </a:extLst>
              </a:tr>
            </a:tbl>
          </a:graphicData>
        </a:graphic>
      </p:graphicFrame>
      <p:sp>
        <p:nvSpPr>
          <p:cNvPr id="26" name="Arrow: Right 25">
            <a:extLst>
              <a:ext uri="{FF2B5EF4-FFF2-40B4-BE49-F238E27FC236}">
                <a16:creationId xmlns:a16="http://schemas.microsoft.com/office/drawing/2014/main" id="{953FDD48-0780-7CAE-6177-53E432C14033}"/>
              </a:ext>
            </a:extLst>
          </p:cNvPr>
          <p:cNvSpPr/>
          <p:nvPr/>
        </p:nvSpPr>
        <p:spPr>
          <a:xfrm>
            <a:off x="4701540" y="4038600"/>
            <a:ext cx="216763" cy="1090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CFAA047-D904-6650-13E5-2B9BFA109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085290"/>
              </p:ext>
            </p:extLst>
          </p:nvPr>
        </p:nvGraphicFramePr>
        <p:xfrm>
          <a:off x="5021580" y="3221077"/>
          <a:ext cx="3431407" cy="1580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68">
                  <a:extLst>
                    <a:ext uri="{9D8B030D-6E8A-4147-A177-3AD203B41FA5}">
                      <a16:colId xmlns:a16="http://schemas.microsoft.com/office/drawing/2014/main" val="148873108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703274873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80424586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4030744201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3428833326"/>
                    </a:ext>
                  </a:extLst>
                </a:gridCol>
                <a:gridCol w="451669">
                  <a:extLst>
                    <a:ext uri="{9D8B030D-6E8A-4147-A177-3AD203B41FA5}">
                      <a16:colId xmlns:a16="http://schemas.microsoft.com/office/drawing/2014/main" val="2813142834"/>
                    </a:ext>
                  </a:extLst>
                </a:gridCol>
              </a:tblGrid>
              <a:tr h="263471"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A3, A5, A6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A4,A8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A7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3953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3.61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2.24</a:t>
                      </a:r>
                      <a:endParaRPr lang="LID4096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8.06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935663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4.12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4.24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3.16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47037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A3, A5, A6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3.61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5.39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06982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A4, A8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7.21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701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A7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1519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89459DA-125E-0491-86AF-BBA067A43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294525"/>
              </p:ext>
            </p:extLst>
          </p:nvPr>
        </p:nvGraphicFramePr>
        <p:xfrm>
          <a:off x="9008968" y="3434437"/>
          <a:ext cx="3289802" cy="1317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68">
                  <a:extLst>
                    <a:ext uri="{9D8B030D-6E8A-4147-A177-3AD203B41FA5}">
                      <a16:colId xmlns:a16="http://schemas.microsoft.com/office/drawing/2014/main" val="1488731081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80424586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4030744201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428833326"/>
                    </a:ext>
                  </a:extLst>
                </a:gridCol>
                <a:gridCol w="451669">
                  <a:extLst>
                    <a:ext uri="{9D8B030D-6E8A-4147-A177-3AD203B41FA5}">
                      <a16:colId xmlns:a16="http://schemas.microsoft.com/office/drawing/2014/main" val="2813142834"/>
                    </a:ext>
                  </a:extLst>
                </a:gridCol>
              </a:tblGrid>
              <a:tr h="263471"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A3, A5, A6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A4,A8, 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A7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3953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4.12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4.24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3.16</a:t>
                      </a:r>
                      <a:endParaRPr lang="LID4096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547037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A3, A5, A6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3.61</a:t>
                      </a:r>
                      <a:endParaRPr lang="LID4096" sz="1100" dirty="0"/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5.39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06982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A4, A8, 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7.21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701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A7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15197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BD3D87E3-A913-5D55-BD3C-02A5A88CB5AA}"/>
              </a:ext>
            </a:extLst>
          </p:cNvPr>
          <p:cNvSpPr/>
          <p:nvPr/>
        </p:nvSpPr>
        <p:spPr>
          <a:xfrm>
            <a:off x="8656697" y="2498789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A1</a:t>
            </a:r>
            <a:endParaRPr lang="LID4096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C3A394-B863-4A4E-96E2-117934A6D000}"/>
              </a:ext>
            </a:extLst>
          </p:cNvPr>
          <p:cNvSpPr/>
          <p:nvPr/>
        </p:nvSpPr>
        <p:spPr>
          <a:xfrm>
            <a:off x="5784328" y="2500314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A2</a:t>
            </a:r>
            <a:endParaRPr lang="LID4096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DA8BE1-185D-645E-02EA-1B4A34019158}"/>
              </a:ext>
            </a:extLst>
          </p:cNvPr>
          <p:cNvSpPr/>
          <p:nvPr/>
        </p:nvSpPr>
        <p:spPr>
          <a:xfrm>
            <a:off x="6255632" y="2501838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A3</a:t>
            </a:r>
            <a:endParaRPr lang="LID4096" sz="11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D8FF89-A848-C170-E5FE-F84D568AFEB1}"/>
              </a:ext>
            </a:extLst>
          </p:cNvPr>
          <p:cNvSpPr/>
          <p:nvPr/>
        </p:nvSpPr>
        <p:spPr>
          <a:xfrm>
            <a:off x="7673312" y="2498790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A4</a:t>
            </a:r>
            <a:endParaRPr lang="LID4096" sz="11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36FF66-73FE-53E4-63A5-74D342C0B885}"/>
              </a:ext>
            </a:extLst>
          </p:cNvPr>
          <p:cNvSpPr/>
          <p:nvPr/>
        </p:nvSpPr>
        <p:spPr>
          <a:xfrm>
            <a:off x="7200124" y="2498790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A5</a:t>
            </a:r>
            <a:endParaRPr lang="LID4096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73392A-3FD6-C9D5-4091-47AA75E4A189}"/>
              </a:ext>
            </a:extLst>
          </p:cNvPr>
          <p:cNvSpPr/>
          <p:nvPr/>
        </p:nvSpPr>
        <p:spPr>
          <a:xfrm>
            <a:off x="6726936" y="2498790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A6</a:t>
            </a:r>
            <a:endParaRPr lang="LID4096" sz="11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1A24EA-FDA9-16A5-491D-87C2052709CE}"/>
              </a:ext>
            </a:extLst>
          </p:cNvPr>
          <p:cNvSpPr/>
          <p:nvPr/>
        </p:nvSpPr>
        <p:spPr>
          <a:xfrm>
            <a:off x="5312844" y="2498790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A7</a:t>
            </a:r>
            <a:endParaRPr lang="LID4096" sz="11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1712E1-0B34-A480-2978-0A7DFB8A3940}"/>
              </a:ext>
            </a:extLst>
          </p:cNvPr>
          <p:cNvSpPr/>
          <p:nvPr/>
        </p:nvSpPr>
        <p:spPr>
          <a:xfrm>
            <a:off x="8164456" y="2500314"/>
            <a:ext cx="350520" cy="28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A8</a:t>
            </a:r>
            <a:endParaRPr lang="LID4096" sz="1100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3A364F6F-8286-4A34-37A6-0FDA0DF95ACF}"/>
              </a:ext>
            </a:extLst>
          </p:cNvPr>
          <p:cNvCxnSpPr>
            <a:stCxn id="32" idx="0"/>
            <a:endCxn id="34" idx="0"/>
          </p:cNvCxnSpPr>
          <p:nvPr/>
        </p:nvCxnSpPr>
        <p:spPr>
          <a:xfrm rot="5400000" flipH="1" flipV="1">
            <a:off x="6901614" y="2028068"/>
            <a:ext cx="3048" cy="944492"/>
          </a:xfrm>
          <a:prstGeom prst="bentConnector3">
            <a:avLst>
              <a:gd name="adj1" fmla="val 76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5B2AAB7-9AF4-E4F2-A10D-B508FAC970D1}"/>
              </a:ext>
            </a:extLst>
          </p:cNvPr>
          <p:cNvCxnSpPr>
            <a:stCxn id="35" idx="0"/>
          </p:cNvCxnSpPr>
          <p:nvPr/>
        </p:nvCxnSpPr>
        <p:spPr>
          <a:xfrm flipV="1">
            <a:off x="6902196" y="2259806"/>
            <a:ext cx="1048" cy="2389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EF265B9-8435-7A73-6B0C-165CCB033EBE}"/>
              </a:ext>
            </a:extLst>
          </p:cNvPr>
          <p:cNvCxnSpPr>
            <a:stCxn id="33" idx="0"/>
            <a:endCxn id="37" idx="0"/>
          </p:cNvCxnSpPr>
          <p:nvPr/>
        </p:nvCxnSpPr>
        <p:spPr>
          <a:xfrm rot="16200000" flipH="1">
            <a:off x="8093382" y="2253980"/>
            <a:ext cx="1524" cy="491144"/>
          </a:xfrm>
          <a:prstGeom prst="bentConnector3">
            <a:avLst>
              <a:gd name="adj1" fmla="val -150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86B33F9-3F7D-9BE5-B7AC-08690A1D8F92}"/>
              </a:ext>
            </a:extLst>
          </p:cNvPr>
          <p:cNvSpPr txBox="1"/>
          <p:nvPr/>
        </p:nvSpPr>
        <p:spPr>
          <a:xfrm>
            <a:off x="4857204" y="2148883"/>
            <a:ext cx="563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1.41</a:t>
            </a:r>
            <a:endParaRPr lang="LID4096" sz="90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76EADAC-F5F7-9BB8-0F5D-21C0EC20D88E}"/>
              </a:ext>
            </a:extLst>
          </p:cNvPr>
          <p:cNvCxnSpPr>
            <a:stCxn id="30" idx="0"/>
          </p:cNvCxnSpPr>
          <p:nvPr/>
        </p:nvCxnSpPr>
        <p:spPr>
          <a:xfrm flipV="1">
            <a:off x="8831957" y="1986248"/>
            <a:ext cx="0" cy="512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0344E1D-C56E-1379-676D-9E0F344561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94145" y="1995292"/>
            <a:ext cx="737815" cy="264513"/>
          </a:xfrm>
          <a:prstGeom prst="bentConnector3">
            <a:avLst>
              <a:gd name="adj1" fmla="val 990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C607F3B-52A7-9E08-2FD2-8EDDAF6DCEB5}"/>
              </a:ext>
            </a:extLst>
          </p:cNvPr>
          <p:cNvSpPr txBox="1"/>
          <p:nvPr/>
        </p:nvSpPr>
        <p:spPr>
          <a:xfrm>
            <a:off x="4857204" y="1914392"/>
            <a:ext cx="563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2.41</a:t>
            </a:r>
            <a:endParaRPr lang="LID4096" sz="9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8F652E-BC95-F32A-2DF8-ED8AFAE09FBC}"/>
              </a:ext>
            </a:extLst>
          </p:cNvPr>
          <p:cNvSpPr txBox="1"/>
          <p:nvPr/>
        </p:nvSpPr>
        <p:spPr>
          <a:xfrm>
            <a:off x="4857203" y="1595497"/>
            <a:ext cx="563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3.16</a:t>
            </a:r>
            <a:endParaRPr lang="LID4096" sz="900" dirty="0"/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4A2BB562-76C1-5E90-33B4-D1A40583B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733987"/>
              </p:ext>
            </p:extLst>
          </p:nvPr>
        </p:nvGraphicFramePr>
        <p:xfrm>
          <a:off x="5214735" y="5153334"/>
          <a:ext cx="3208771" cy="1053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137">
                  <a:extLst>
                    <a:ext uri="{9D8B030D-6E8A-4147-A177-3AD203B41FA5}">
                      <a16:colId xmlns:a16="http://schemas.microsoft.com/office/drawing/2014/main" val="1488731081"/>
                    </a:ext>
                  </a:extLst>
                </a:gridCol>
                <a:gridCol w="893785">
                  <a:extLst>
                    <a:ext uri="{9D8B030D-6E8A-4147-A177-3AD203B41FA5}">
                      <a16:colId xmlns:a16="http://schemas.microsoft.com/office/drawing/2014/main" val="4030744201"/>
                    </a:ext>
                  </a:extLst>
                </a:gridCol>
                <a:gridCol w="863269">
                  <a:extLst>
                    <a:ext uri="{9D8B030D-6E8A-4147-A177-3AD203B41FA5}">
                      <a16:colId xmlns:a16="http://schemas.microsoft.com/office/drawing/2014/main" val="3428833326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813142834"/>
                    </a:ext>
                  </a:extLst>
                </a:gridCol>
              </a:tblGrid>
              <a:tr h="263471"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A3, A5, A6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A4,A8, 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A2,A7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3953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A3, A5, A6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3.61</a:t>
                      </a:r>
                      <a:endParaRPr lang="LID4096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4.12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06982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A4, A8, 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4.24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701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A2,A7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15197"/>
                  </a:ext>
                </a:extLst>
              </a:tr>
            </a:tbl>
          </a:graphicData>
        </a:graphic>
      </p:graphicFrame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65DE29CB-D2D0-0651-AE0F-57DF8EAC2B9B}"/>
              </a:ext>
            </a:extLst>
          </p:cNvPr>
          <p:cNvCxnSpPr>
            <a:stCxn id="36" idx="0"/>
            <a:endCxn id="31" idx="0"/>
          </p:cNvCxnSpPr>
          <p:nvPr/>
        </p:nvCxnSpPr>
        <p:spPr>
          <a:xfrm rot="16200000" flipH="1">
            <a:off x="5723084" y="2263810"/>
            <a:ext cx="1524" cy="471484"/>
          </a:xfrm>
          <a:prstGeom prst="bentConnector3">
            <a:avLst>
              <a:gd name="adj1" fmla="val -534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A434116-B02F-EACC-5C98-9AB1A1E5ACC6}"/>
              </a:ext>
            </a:extLst>
          </p:cNvPr>
          <p:cNvCxnSpPr/>
          <p:nvPr/>
        </p:nvCxnSpPr>
        <p:spPr>
          <a:xfrm flipV="1">
            <a:off x="6902196" y="1188720"/>
            <a:ext cx="0" cy="10710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956E9527-4ACC-2D76-4EEB-DD4C05B574D3}"/>
              </a:ext>
            </a:extLst>
          </p:cNvPr>
          <p:cNvCxnSpPr/>
          <p:nvPr/>
        </p:nvCxnSpPr>
        <p:spPr>
          <a:xfrm>
            <a:off x="6902196" y="1188720"/>
            <a:ext cx="1560856" cy="797528"/>
          </a:xfrm>
          <a:prstGeom prst="bentConnector3">
            <a:avLst>
              <a:gd name="adj1" fmla="val 9979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4CDCC92-C463-AAA8-54E6-89A65BAE51B9}"/>
              </a:ext>
            </a:extLst>
          </p:cNvPr>
          <p:cNvSpPr txBox="1"/>
          <p:nvPr/>
        </p:nvSpPr>
        <p:spPr>
          <a:xfrm>
            <a:off x="4852494" y="1066146"/>
            <a:ext cx="563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3.61</a:t>
            </a:r>
            <a:endParaRPr lang="LID4096" sz="900" dirty="0"/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3BAD4140-5BC0-3CC5-A69D-7C2D762BA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14511"/>
              </p:ext>
            </p:extLst>
          </p:nvPr>
        </p:nvGraphicFramePr>
        <p:xfrm>
          <a:off x="8787136" y="5153334"/>
          <a:ext cx="2314986" cy="1284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137">
                  <a:extLst>
                    <a:ext uri="{9D8B030D-6E8A-4147-A177-3AD203B41FA5}">
                      <a16:colId xmlns:a16="http://schemas.microsoft.com/office/drawing/2014/main" val="1488731081"/>
                    </a:ext>
                  </a:extLst>
                </a:gridCol>
                <a:gridCol w="863269">
                  <a:extLst>
                    <a:ext uri="{9D8B030D-6E8A-4147-A177-3AD203B41FA5}">
                      <a16:colId xmlns:a16="http://schemas.microsoft.com/office/drawing/2014/main" val="3428833326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813142834"/>
                    </a:ext>
                  </a:extLst>
                </a:gridCol>
              </a:tblGrid>
              <a:tr h="263471"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A4,A8, A1, A3, A5, A6</a:t>
                      </a:r>
                      <a:endParaRPr lang="LID4096" sz="1100" dirty="0"/>
                    </a:p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A2,A7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3953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A3, A5, A6</a:t>
                      </a:r>
                      <a:endParaRPr lang="LID4096" sz="1100" dirty="0"/>
                    </a:p>
                    <a:p>
                      <a:r>
                        <a:rPr lang="en-US" sz="1100" dirty="0"/>
                        <a:t>A4, A8, A1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4.12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7014"/>
                  </a:ext>
                </a:extLst>
              </a:tr>
              <a:tr h="263471">
                <a:tc>
                  <a:txBody>
                    <a:bodyPr/>
                    <a:lstStyle/>
                    <a:p>
                      <a:r>
                        <a:rPr lang="en-US" sz="1100" dirty="0"/>
                        <a:t>A2,A7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15197"/>
                  </a:ext>
                </a:extLst>
              </a:tr>
            </a:tbl>
          </a:graphicData>
        </a:graphic>
      </p:graphicFrame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6B530A8-5C06-4FAA-048B-3C59C9CB60B2}"/>
              </a:ext>
            </a:extLst>
          </p:cNvPr>
          <p:cNvCxnSpPr>
            <a:cxnSpLocks/>
          </p:cNvCxnSpPr>
          <p:nvPr/>
        </p:nvCxnSpPr>
        <p:spPr>
          <a:xfrm flipV="1">
            <a:off x="5723846" y="602358"/>
            <a:ext cx="0" cy="10799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DE9E69B0-3FA2-34E8-A614-D47F5517B8E7}"/>
              </a:ext>
            </a:extLst>
          </p:cNvPr>
          <p:cNvCxnSpPr/>
          <p:nvPr/>
        </p:nvCxnSpPr>
        <p:spPr>
          <a:xfrm>
            <a:off x="5723846" y="602358"/>
            <a:ext cx="1949466" cy="586362"/>
          </a:xfrm>
          <a:prstGeom prst="bentConnector3">
            <a:avLst>
              <a:gd name="adj1" fmla="val 100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11442102-89E6-78B2-51B6-3A02D410C61C}"/>
              </a:ext>
            </a:extLst>
          </p:cNvPr>
          <p:cNvSpPr/>
          <p:nvPr/>
        </p:nvSpPr>
        <p:spPr>
          <a:xfrm>
            <a:off x="8648800" y="3984084"/>
            <a:ext cx="216763" cy="1090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628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6F4333-15B0-73D5-0C97-7524154A6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792" y="566718"/>
            <a:ext cx="11240415" cy="232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85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E7E709A-88E5-668C-DF9D-1EEF3C4136CB}"/>
              </a:ext>
            </a:extLst>
          </p:cNvPr>
          <p:cNvSpPr/>
          <p:nvPr/>
        </p:nvSpPr>
        <p:spPr>
          <a:xfrm>
            <a:off x="2029767" y="1065125"/>
            <a:ext cx="844062" cy="7737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LID4096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E7B884-D6B2-44AC-ED49-C20E9FACACC9}"/>
              </a:ext>
            </a:extLst>
          </p:cNvPr>
          <p:cNvSpPr/>
          <p:nvPr/>
        </p:nvSpPr>
        <p:spPr>
          <a:xfrm>
            <a:off x="3681586" y="1065125"/>
            <a:ext cx="844062" cy="7737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lang="LID4096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BBCF65-FBAE-F70B-A201-18FB604E1CF2}"/>
              </a:ext>
            </a:extLst>
          </p:cNvPr>
          <p:cNvSpPr/>
          <p:nvPr/>
        </p:nvSpPr>
        <p:spPr>
          <a:xfrm>
            <a:off x="5333405" y="1065125"/>
            <a:ext cx="844062" cy="7737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endParaRPr lang="LID4096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A50150-86B7-F744-DCBA-B45BE6AF4317}"/>
              </a:ext>
            </a:extLst>
          </p:cNvPr>
          <p:cNvSpPr/>
          <p:nvPr/>
        </p:nvSpPr>
        <p:spPr>
          <a:xfrm>
            <a:off x="3681586" y="2559628"/>
            <a:ext cx="844062" cy="7737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LID4096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B7688F-9C26-7CB9-1EE0-DE799A689129}"/>
              </a:ext>
            </a:extLst>
          </p:cNvPr>
          <p:cNvSpPr/>
          <p:nvPr/>
        </p:nvSpPr>
        <p:spPr>
          <a:xfrm>
            <a:off x="5333405" y="3429000"/>
            <a:ext cx="844062" cy="7737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LID4096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3727EA-097C-29E8-22DA-C446E8CA76AE}"/>
              </a:ext>
            </a:extLst>
          </p:cNvPr>
          <p:cNvCxnSpPr>
            <a:stCxn id="4" idx="4"/>
            <a:endCxn id="7" idx="1"/>
          </p:cNvCxnSpPr>
          <p:nvPr/>
        </p:nvCxnSpPr>
        <p:spPr>
          <a:xfrm>
            <a:off x="2451798" y="1838848"/>
            <a:ext cx="1353398" cy="834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314C66-BDF8-50D2-3884-C6E8FD386C30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4103617" y="1838848"/>
            <a:ext cx="0" cy="720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47365D-279A-FE5C-AE3F-534D9D8235F5}"/>
              </a:ext>
            </a:extLst>
          </p:cNvPr>
          <p:cNvCxnSpPr>
            <a:stCxn id="6" idx="4"/>
            <a:endCxn id="7" idx="7"/>
          </p:cNvCxnSpPr>
          <p:nvPr/>
        </p:nvCxnSpPr>
        <p:spPr>
          <a:xfrm flipH="1">
            <a:off x="4402038" y="1838848"/>
            <a:ext cx="1353398" cy="834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539368-51F0-1C2E-271C-3DA782999D63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5755436" y="1838848"/>
            <a:ext cx="0" cy="1590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2D8D78-3C8B-AAF3-B884-3A3092DD1DC4}"/>
              </a:ext>
            </a:extLst>
          </p:cNvPr>
          <p:cNvCxnSpPr>
            <a:stCxn id="7" idx="4"/>
            <a:endCxn id="8" idx="2"/>
          </p:cNvCxnSpPr>
          <p:nvPr/>
        </p:nvCxnSpPr>
        <p:spPr>
          <a:xfrm>
            <a:off x="4103617" y="3333351"/>
            <a:ext cx="1229788" cy="482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517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34161</TotalTime>
  <Words>2041</Words>
  <Application>Microsoft Office PowerPoint</Application>
  <PresentationFormat>Widescreen</PresentationFormat>
  <Paragraphs>652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Times New Roman</vt:lpstr>
      <vt:lpstr>Office Theme</vt:lpstr>
      <vt:lpstr>Decision Trees (ID3 Algorithm)</vt:lpstr>
      <vt:lpstr>PowerPoint Presentation</vt:lpstr>
      <vt:lpstr>Naïve Bayes and Bayesian network </vt:lpstr>
      <vt:lpstr>PowerPoint Presentation</vt:lpstr>
      <vt:lpstr>PowerPoint Presentation</vt:lpstr>
      <vt:lpstr>Association rules</vt:lpstr>
      <vt:lpstr>Key Metrics: Support, Confidence, Lift</vt:lpstr>
      <vt:lpstr>Apriori example(example): Min-confidence&gt;=80%; Min support &gt;= 50%</vt:lpstr>
      <vt:lpstr>PowerPoint Presentation</vt:lpstr>
      <vt:lpstr>PowerPoint Presentation</vt:lpstr>
      <vt:lpstr>FP-Growth example (example): Min-confidence&gt;=80%; Min support &gt;= 50%</vt:lpstr>
      <vt:lpstr>Clustering – AGNES Exercise 2 : Hierarchical clustering  </vt:lpstr>
      <vt:lpstr>Clustering – AGNES Exercise 2 : Hierarchical clustering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Jenia Goldin</dc:creator>
  <cp:lastModifiedBy>Jenia Goldin</cp:lastModifiedBy>
  <cp:revision>5</cp:revision>
  <dcterms:created xsi:type="dcterms:W3CDTF">2025-07-02T17:09:12Z</dcterms:created>
  <dcterms:modified xsi:type="dcterms:W3CDTF">2025-09-28T15:03:07Z</dcterms:modified>
</cp:coreProperties>
</file>